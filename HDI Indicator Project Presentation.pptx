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F43105-30C4-4979-AD7D-935C66147BA0}">
  <a:tblStyle styleId="{8EF43105-30C4-4979-AD7D-935C66147BA0}"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86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what are other important indicators? It flows to the goal page.</a:t>
            </a:r>
            <a:endParaRPr/>
          </a:p>
        </p:txBody>
      </p:sp>
      <p:sp>
        <p:nvSpPr>
          <p:cNvPr id="103" name="Google Shape;10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6b5a2886c0_1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6b5a2886c0_1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6b5a2886c0_1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 48 variables in the proposal. </a:t>
            </a:r>
            <a:endParaRPr/>
          </a:p>
        </p:txBody>
      </p:sp>
      <p:sp>
        <p:nvSpPr>
          <p:cNvPr id="122" name="Google Shape;12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7924132f61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7924132f61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457200" lvl="0" indent="-285750" algn="l" rtl="0">
              <a:lnSpc>
                <a:spcPct val="90000"/>
              </a:lnSpc>
              <a:spcBef>
                <a:spcPts val="0"/>
              </a:spcBef>
              <a:spcAft>
                <a:spcPts val="0"/>
              </a:spcAft>
              <a:buClr>
                <a:schemeClr val="dk1"/>
              </a:buClr>
              <a:buSzPts val="900"/>
              <a:buFont typeface="Calibri"/>
              <a:buAutoNum type="arabicPeriod"/>
            </a:pPr>
            <a:r>
              <a:rPr lang="en-US" sz="900" b="1"/>
              <a:t>Variable rules and levels</a:t>
            </a:r>
            <a:r>
              <a:rPr lang="en-US" sz="900"/>
              <a:t>:  (27 variables) </a:t>
            </a:r>
            <a:endParaRPr sz="900"/>
          </a:p>
          <a:p>
            <a:pPr marL="914400" lvl="1" indent="-285750" algn="l" rtl="0">
              <a:lnSpc>
                <a:spcPct val="90000"/>
              </a:lnSpc>
              <a:spcBef>
                <a:spcPts val="0"/>
              </a:spcBef>
              <a:spcAft>
                <a:spcPts val="0"/>
              </a:spcAft>
              <a:buClr>
                <a:schemeClr val="dk1"/>
              </a:buClr>
              <a:buSzPts val="900"/>
              <a:buFont typeface="Calibri"/>
              <a:buAutoNum type="alphaLcPeriod"/>
            </a:pPr>
            <a:r>
              <a:rPr lang="en-US" sz="900">
                <a:highlight>
                  <a:srgbClr val="BF9000"/>
                </a:highlight>
              </a:rPr>
              <a:t>HDI: Target and interval </a:t>
            </a:r>
            <a:endParaRPr sz="900">
              <a:highlight>
                <a:srgbClr val="BF9000"/>
              </a:highlight>
            </a:endParaRPr>
          </a:p>
          <a:p>
            <a:pPr marL="914400" lvl="1" indent="-285750" algn="l" rtl="0">
              <a:lnSpc>
                <a:spcPct val="90000"/>
              </a:lnSpc>
              <a:spcBef>
                <a:spcPts val="0"/>
              </a:spcBef>
              <a:spcAft>
                <a:spcPts val="0"/>
              </a:spcAft>
              <a:buClr>
                <a:schemeClr val="dk1"/>
              </a:buClr>
              <a:buSzPts val="900"/>
              <a:buFont typeface="Calibri"/>
              <a:buAutoNum type="alphaLcPeriod"/>
            </a:pPr>
            <a:r>
              <a:rPr lang="en-US" sz="900">
                <a:highlight>
                  <a:srgbClr val="BF9000"/>
                </a:highlight>
              </a:rPr>
              <a:t>26 Variables: Independent and numeric </a:t>
            </a:r>
            <a:endParaRPr sz="900">
              <a:highlight>
                <a:srgbClr val="BF9000"/>
              </a:highlight>
            </a:endParaRPr>
          </a:p>
          <a:p>
            <a:pPr marL="914400" lvl="1" indent="-285750" algn="l" rtl="0">
              <a:lnSpc>
                <a:spcPct val="90000"/>
              </a:lnSpc>
              <a:spcBef>
                <a:spcPts val="0"/>
              </a:spcBef>
              <a:spcAft>
                <a:spcPts val="0"/>
              </a:spcAft>
              <a:buClr>
                <a:schemeClr val="dk1"/>
              </a:buClr>
              <a:buSzPts val="900"/>
              <a:buFont typeface="Calibri"/>
              <a:buAutoNum type="alphaLcPeriod"/>
            </a:pPr>
            <a:r>
              <a:rPr lang="en-US" sz="900">
                <a:highlight>
                  <a:srgbClr val="BF9000"/>
                </a:highlight>
              </a:rPr>
              <a:t>1 variable: Independent and nominal </a:t>
            </a:r>
            <a:r>
              <a:rPr lang="en-US" sz="900"/>
              <a:t> </a:t>
            </a:r>
            <a:endParaRPr sz="900"/>
          </a:p>
          <a:p>
            <a:pPr marL="914400" lvl="1" indent="-285750" algn="l" rtl="0">
              <a:lnSpc>
                <a:spcPct val="90000"/>
              </a:lnSpc>
              <a:spcBef>
                <a:spcPts val="0"/>
              </a:spcBef>
              <a:spcAft>
                <a:spcPts val="0"/>
              </a:spcAft>
              <a:buClr>
                <a:schemeClr val="dk1"/>
              </a:buClr>
              <a:buSzPts val="900"/>
              <a:buFont typeface="Calibri"/>
              <a:buAutoNum type="alphaLcPeriod"/>
            </a:pPr>
            <a:r>
              <a:rPr lang="en-US" sz="900"/>
              <a:t>HDI-target and interval, 26-Independent and numeric, 1-independent and nominal</a:t>
            </a:r>
            <a:endParaRPr sz="900"/>
          </a:p>
        </p:txBody>
      </p:sp>
      <p:sp>
        <p:nvSpPr>
          <p:cNvPr id="136" name="Google Shape;136;g7924132f61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7924132f61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7924132f61_0_3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7924132f61_0_3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793aea750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793aea750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457200" lvl="0" indent="-342900" algn="l" rtl="0">
              <a:lnSpc>
                <a:spcPct val="90000"/>
              </a:lnSpc>
              <a:spcBef>
                <a:spcPts val="0"/>
              </a:spcBef>
              <a:spcAft>
                <a:spcPts val="0"/>
              </a:spcAft>
              <a:buClr>
                <a:schemeClr val="dk1"/>
              </a:buClr>
              <a:buSzPts val="1800"/>
              <a:buChar char="•"/>
            </a:pPr>
            <a:r>
              <a:rPr lang="en-US" sz="1800"/>
              <a:t>7.58% of the data (1,655 values /a total of 21,840 values)</a:t>
            </a:r>
            <a:endParaRPr sz="1800"/>
          </a:p>
          <a:p>
            <a:pPr marL="0" lvl="0" indent="0" algn="l" rtl="0">
              <a:spcBef>
                <a:spcPts val="0"/>
              </a:spcBef>
              <a:spcAft>
                <a:spcPts val="0"/>
              </a:spcAft>
              <a:buNone/>
            </a:pPr>
            <a:endParaRPr/>
          </a:p>
        </p:txBody>
      </p:sp>
      <p:sp>
        <p:nvSpPr>
          <p:cNvPr id="154" name="Google Shape;154;g793aea7505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793aea7505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793aea7505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457200" lvl="0" indent="-342900" algn="l" rtl="0">
              <a:spcBef>
                <a:spcPts val="0"/>
              </a:spcBef>
              <a:spcAft>
                <a:spcPts val="0"/>
              </a:spcAft>
              <a:buClr>
                <a:schemeClr val="dk1"/>
              </a:buClr>
              <a:buSzPts val="1800"/>
              <a:buChar char="•"/>
            </a:pPr>
            <a:r>
              <a:rPr lang="en-US" sz="1800"/>
              <a:t>At least there were detected 12 variables with outliers and 4 with high skewness</a:t>
            </a:r>
            <a:endParaRPr sz="1800"/>
          </a:p>
          <a:p>
            <a:pPr marL="457200" lvl="0" indent="-342900" algn="l" rtl="0">
              <a:lnSpc>
                <a:spcPct val="90000"/>
              </a:lnSpc>
              <a:spcBef>
                <a:spcPts val="0"/>
              </a:spcBef>
              <a:spcAft>
                <a:spcPts val="0"/>
              </a:spcAft>
              <a:buClr>
                <a:schemeClr val="dk1"/>
              </a:buClr>
              <a:buSzPts val="1800"/>
              <a:buChar char="•"/>
            </a:pPr>
            <a:r>
              <a:rPr lang="en-US" sz="1800"/>
              <a:t>Variables that have Outliers:  </a:t>
            </a:r>
            <a:r>
              <a:rPr lang="en-US" sz="1800">
                <a:highlight>
                  <a:srgbClr val="FFFF00"/>
                </a:highlight>
              </a:rPr>
              <a:t> &gt; </a:t>
            </a:r>
            <a:r>
              <a:rPr lang="en-US" sz="1800"/>
              <a:t>12 variables. H</a:t>
            </a:r>
            <a:r>
              <a:rPr lang="en-US" sz="1500"/>
              <a:t>igh skewness → </a:t>
            </a:r>
            <a:r>
              <a:rPr lang="en-US" sz="1500">
                <a:solidFill>
                  <a:srgbClr val="6AA84F"/>
                </a:solidFill>
              </a:rPr>
              <a:t>Inflation (annual %)</a:t>
            </a:r>
            <a:r>
              <a:rPr lang="en-US" sz="1500"/>
              <a:t> (Skewness = 18.66)</a:t>
            </a:r>
            <a:endParaRPr sz="1500"/>
          </a:p>
          <a:p>
            <a:pPr marL="457200" lvl="0" indent="-323850" algn="l" rtl="0">
              <a:lnSpc>
                <a:spcPct val="90000"/>
              </a:lnSpc>
              <a:spcBef>
                <a:spcPts val="0"/>
              </a:spcBef>
              <a:spcAft>
                <a:spcPts val="0"/>
              </a:spcAft>
              <a:buClr>
                <a:schemeClr val="dk1"/>
              </a:buClr>
              <a:buSzPts val="1500"/>
              <a:buChar char="•"/>
            </a:pPr>
            <a:r>
              <a:rPr lang="en-US" sz="1500"/>
              <a:t>Medium skewness → </a:t>
            </a:r>
            <a:r>
              <a:rPr lang="en-US" sz="1500">
                <a:solidFill>
                  <a:srgbClr val="6AA84F"/>
                </a:solidFill>
              </a:rPr>
              <a:t>Number of infant deaths</a:t>
            </a:r>
            <a:r>
              <a:rPr lang="en-US" sz="1500"/>
              <a:t> and </a:t>
            </a:r>
            <a:r>
              <a:rPr lang="en-US" sz="1500">
                <a:solidFill>
                  <a:srgbClr val="6AA84F"/>
                </a:solidFill>
              </a:rPr>
              <a:t>Number of under 5 deaths (skewness=7.65 and 7.42)</a:t>
            </a:r>
            <a:endParaRPr sz="1500"/>
          </a:p>
          <a:p>
            <a:pPr marL="457200" lvl="0" indent="-323850" algn="l" rtl="0">
              <a:lnSpc>
                <a:spcPct val="90000"/>
              </a:lnSpc>
              <a:spcBef>
                <a:spcPts val="0"/>
              </a:spcBef>
              <a:spcAft>
                <a:spcPts val="0"/>
              </a:spcAft>
              <a:buClr>
                <a:schemeClr val="dk1"/>
              </a:buClr>
              <a:buSzPts val="1500"/>
              <a:buChar char="•"/>
            </a:pPr>
            <a:r>
              <a:rPr lang="en-US" sz="1500"/>
              <a:t>Slight skewness → </a:t>
            </a:r>
            <a:r>
              <a:rPr lang="en-US" sz="1500" i="1">
                <a:solidFill>
                  <a:srgbClr val="6AA84F"/>
                </a:solidFill>
              </a:rPr>
              <a:t>Oil rents (% of GDP) (skewness=3.72)</a:t>
            </a:r>
            <a:endParaRPr sz="1500" i="1">
              <a:solidFill>
                <a:srgbClr val="6AA84F"/>
              </a:solidFill>
            </a:endParaRPr>
          </a:p>
          <a:p>
            <a:pPr marL="0" lvl="0" indent="0" algn="l" rtl="0">
              <a:lnSpc>
                <a:spcPct val="90000"/>
              </a:lnSpc>
              <a:spcBef>
                <a:spcPts val="0"/>
              </a:spcBef>
              <a:spcAft>
                <a:spcPts val="0"/>
              </a:spcAft>
              <a:buNone/>
            </a:pPr>
            <a:endParaRPr sz="1800"/>
          </a:p>
          <a:p>
            <a:pPr marL="0" lvl="0" indent="0" algn="l" rtl="0">
              <a:spcBef>
                <a:spcPts val="0"/>
              </a:spcBef>
              <a:spcAft>
                <a:spcPts val="0"/>
              </a:spcAft>
              <a:buNone/>
            </a:pPr>
            <a:endParaRPr/>
          </a:p>
        </p:txBody>
      </p:sp>
      <p:sp>
        <p:nvSpPr>
          <p:cNvPr id="175" name="Google Shape;175;g793aea7505_0_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793aea7505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793aea7505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Life Expectancy, Age dependency ratio(negative), GNI per capita PPP,  Individual using internet, Access to clean electricity. </a:t>
            </a:r>
            <a:endParaRPr/>
          </a:p>
        </p:txBody>
      </p:sp>
      <p:sp>
        <p:nvSpPr>
          <p:cNvPr id="191" name="Google Shape;191;g793aea7505_0_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6b5a2886c0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6b5a2886c0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sz="900" b="1"/>
              <a:t>Variable rules and levels</a:t>
            </a:r>
            <a:r>
              <a:rPr lang="en-US" sz="900"/>
              <a:t>:  (27 variables) </a:t>
            </a:r>
            <a:endParaRPr sz="900"/>
          </a:p>
          <a:p>
            <a:pPr marL="457200" lvl="0" indent="-285750" algn="l" rtl="0">
              <a:lnSpc>
                <a:spcPct val="90000"/>
              </a:lnSpc>
              <a:spcBef>
                <a:spcPts val="0"/>
              </a:spcBef>
              <a:spcAft>
                <a:spcPts val="0"/>
              </a:spcAft>
              <a:buSzPts val="900"/>
              <a:buAutoNum type="alphaLcPeriod"/>
            </a:pPr>
            <a:r>
              <a:rPr lang="en-US" sz="900">
                <a:highlight>
                  <a:srgbClr val="BF9000"/>
                </a:highlight>
              </a:rPr>
              <a:t>HDI: Target and interval </a:t>
            </a:r>
            <a:endParaRPr sz="900">
              <a:highlight>
                <a:srgbClr val="BF9000"/>
              </a:highlight>
            </a:endParaRPr>
          </a:p>
          <a:p>
            <a:pPr marL="457200" lvl="0" indent="-285750" algn="l" rtl="0">
              <a:lnSpc>
                <a:spcPct val="90000"/>
              </a:lnSpc>
              <a:spcBef>
                <a:spcPts val="0"/>
              </a:spcBef>
              <a:spcAft>
                <a:spcPts val="0"/>
              </a:spcAft>
              <a:buSzPts val="900"/>
              <a:buAutoNum type="alphaLcPeriod"/>
            </a:pPr>
            <a:r>
              <a:rPr lang="en-US" sz="900">
                <a:highlight>
                  <a:srgbClr val="BF9000"/>
                </a:highlight>
              </a:rPr>
              <a:t>26 Variables: Independent and numeric </a:t>
            </a:r>
            <a:endParaRPr sz="900">
              <a:highlight>
                <a:srgbClr val="BF9000"/>
              </a:highlight>
            </a:endParaRPr>
          </a:p>
          <a:p>
            <a:pPr marL="457200" lvl="0" indent="-285750" algn="l" rtl="0">
              <a:lnSpc>
                <a:spcPct val="90000"/>
              </a:lnSpc>
              <a:spcBef>
                <a:spcPts val="0"/>
              </a:spcBef>
              <a:spcAft>
                <a:spcPts val="0"/>
              </a:spcAft>
              <a:buSzPts val="900"/>
              <a:buAutoNum type="alphaLcPeriod"/>
            </a:pPr>
            <a:r>
              <a:rPr lang="en-US" sz="900">
                <a:highlight>
                  <a:srgbClr val="BF9000"/>
                </a:highlight>
              </a:rPr>
              <a:t>1 variable: Independent and nominal </a:t>
            </a:r>
            <a:r>
              <a:rPr lang="en-US" sz="900"/>
              <a:t> </a:t>
            </a:r>
            <a:endParaRPr sz="900"/>
          </a:p>
          <a:p>
            <a:pPr marL="457200" lvl="0" indent="-285750" algn="l" rtl="0">
              <a:lnSpc>
                <a:spcPct val="90000"/>
              </a:lnSpc>
              <a:spcBef>
                <a:spcPts val="0"/>
              </a:spcBef>
              <a:spcAft>
                <a:spcPts val="0"/>
              </a:spcAft>
              <a:buSzPts val="900"/>
              <a:buAutoNum type="alphaLcPeriod"/>
            </a:pPr>
            <a:r>
              <a:rPr lang="en-US" sz="900"/>
              <a:t>HDI-target and interval, 26-Independent and numeric, 1-independent and nominal</a:t>
            </a:r>
            <a:endParaRPr sz="900"/>
          </a:p>
          <a:p>
            <a:pPr marL="457200" lvl="0" indent="0" algn="l" rtl="0">
              <a:lnSpc>
                <a:spcPct val="90000"/>
              </a:lnSpc>
              <a:spcBef>
                <a:spcPts val="0"/>
              </a:spcBef>
              <a:spcAft>
                <a:spcPts val="0"/>
              </a:spcAft>
              <a:buNone/>
            </a:pPr>
            <a:endParaRPr sz="900"/>
          </a:p>
          <a:p>
            <a:pPr marL="0" lvl="0" indent="0" algn="l" rtl="0">
              <a:lnSpc>
                <a:spcPct val="90000"/>
              </a:lnSpc>
              <a:spcBef>
                <a:spcPts val="0"/>
              </a:spcBef>
              <a:spcAft>
                <a:spcPts val="0"/>
              </a:spcAft>
              <a:buNone/>
            </a:pPr>
            <a:r>
              <a:rPr lang="en-US" sz="900">
                <a:highlight>
                  <a:srgbClr val="FFFFFF"/>
                </a:highlight>
                <a:latin typeface="Georgia"/>
                <a:ea typeface="Georgia"/>
                <a:cs typeface="Georgia"/>
                <a:sym typeface="Georgia"/>
              </a:rPr>
              <a:t>After handling missing data and noisy data, we find the variables in the dataset have values in different ranges and skewed. </a:t>
            </a:r>
            <a:r>
              <a:rPr lang="en-US" sz="900">
                <a:solidFill>
                  <a:srgbClr val="353535"/>
                </a:solidFill>
                <a:highlight>
                  <a:srgbClr val="FFFFFF"/>
                </a:highlight>
                <a:latin typeface="Georgia"/>
                <a:ea typeface="Georgia"/>
                <a:cs typeface="Georgia"/>
                <a:sym typeface="Georgia"/>
              </a:rPr>
              <a:t>variable transformations can be used to stabilize variance, remove nonlinearity, improve additivity, and counter non-normality. </a:t>
            </a:r>
            <a:r>
              <a:rPr lang="en-US" sz="900">
                <a:solidFill>
                  <a:srgbClr val="222222"/>
                </a:solidFill>
                <a:highlight>
                  <a:srgbClr val="FFFFFF"/>
                </a:highlight>
                <a:latin typeface="Georgia"/>
                <a:ea typeface="Georgia"/>
                <a:cs typeface="Georgia"/>
                <a:sym typeface="Georgia"/>
              </a:rPr>
              <a:t>Standardization is the process of transforming a variable to one with a mean of 0 and a standard deviation of 1. </a:t>
            </a:r>
            <a:r>
              <a:rPr lang="en-US" sz="900">
                <a:solidFill>
                  <a:srgbClr val="333333"/>
                </a:solidFill>
                <a:highlight>
                  <a:srgbClr val="F3FFEB"/>
                </a:highlight>
                <a:latin typeface="Georgia"/>
                <a:ea typeface="Georgia"/>
                <a:cs typeface="Georgia"/>
                <a:sym typeface="Georgia"/>
              </a:rPr>
              <a:t>to put variables on the same scale if they were on very different scales unstandardized, we do standardization. </a:t>
            </a:r>
            <a:endParaRPr sz="900">
              <a:latin typeface="Georgia"/>
              <a:ea typeface="Georgia"/>
              <a:cs typeface="Georgia"/>
              <a:sym typeface="Georgia"/>
            </a:endParaRPr>
          </a:p>
          <a:p>
            <a:pPr marL="457200" lvl="0" indent="0" algn="l" rtl="0">
              <a:lnSpc>
                <a:spcPct val="90000"/>
              </a:lnSpc>
              <a:spcBef>
                <a:spcPts val="0"/>
              </a:spcBef>
              <a:spcAft>
                <a:spcPts val="0"/>
              </a:spcAft>
              <a:buClr>
                <a:schemeClr val="dk1"/>
              </a:buClr>
              <a:buSzPts val="1100"/>
              <a:buFont typeface="Arial"/>
              <a:buNone/>
            </a:pPr>
            <a:endParaRPr sz="900"/>
          </a:p>
          <a:p>
            <a:pPr marL="457200" lvl="0" indent="-285750" algn="l" rtl="0">
              <a:lnSpc>
                <a:spcPct val="90000"/>
              </a:lnSpc>
              <a:spcBef>
                <a:spcPts val="0"/>
              </a:spcBef>
              <a:spcAft>
                <a:spcPts val="0"/>
              </a:spcAft>
              <a:buClr>
                <a:schemeClr val="dk1"/>
              </a:buClr>
              <a:buSzPts val="900"/>
              <a:buFont typeface="Calibri"/>
              <a:buAutoNum type="arabicPeriod"/>
            </a:pPr>
            <a:r>
              <a:rPr lang="en-US" sz="900" b="1"/>
              <a:t>Data explore</a:t>
            </a:r>
            <a:r>
              <a:rPr lang="en-US" sz="900"/>
              <a:t>:</a:t>
            </a:r>
            <a:endParaRPr sz="900"/>
          </a:p>
          <a:p>
            <a:pPr marL="914400" lvl="1" indent="-285750" algn="l" rtl="0">
              <a:lnSpc>
                <a:spcPct val="90000"/>
              </a:lnSpc>
              <a:spcBef>
                <a:spcPts val="0"/>
              </a:spcBef>
              <a:spcAft>
                <a:spcPts val="0"/>
              </a:spcAft>
              <a:buClr>
                <a:schemeClr val="dk1"/>
              </a:buClr>
              <a:buSzPts val="900"/>
              <a:buFont typeface="Calibri"/>
              <a:buAutoNum type="alphaLcPeriod"/>
            </a:pPr>
            <a:r>
              <a:rPr lang="en-US" sz="900"/>
              <a:t>Missing data: </a:t>
            </a:r>
            <a:r>
              <a:rPr lang="en-US" sz="900">
                <a:latin typeface="Arial"/>
                <a:ea typeface="Arial"/>
                <a:cs typeface="Arial"/>
                <a:sym typeface="Arial"/>
              </a:rPr>
              <a:t>7.58% of the data (1,655 values of 21,840 total values). </a:t>
            </a:r>
            <a:endParaRPr sz="900">
              <a:latin typeface="Arial"/>
              <a:ea typeface="Arial"/>
              <a:cs typeface="Arial"/>
              <a:sym typeface="Arial"/>
            </a:endParaRPr>
          </a:p>
          <a:p>
            <a:pPr marL="914400" lvl="1" indent="-285750" algn="l" rtl="0">
              <a:lnSpc>
                <a:spcPct val="90000"/>
              </a:lnSpc>
              <a:spcBef>
                <a:spcPts val="0"/>
              </a:spcBef>
              <a:spcAft>
                <a:spcPts val="0"/>
              </a:spcAft>
              <a:buClr>
                <a:schemeClr val="dk1"/>
              </a:buClr>
              <a:buSzPts val="900"/>
              <a:buFont typeface="Calibri"/>
              <a:buAutoNum type="alphaLcPeriod"/>
            </a:pPr>
            <a:r>
              <a:rPr lang="en-US" sz="900"/>
              <a:t>Skewness:</a:t>
            </a:r>
            <a:r>
              <a:rPr lang="en-US" sz="900">
                <a:latin typeface="Arial"/>
                <a:ea typeface="Arial"/>
                <a:cs typeface="Arial"/>
                <a:sym typeface="Arial"/>
              </a:rPr>
              <a:t> </a:t>
            </a:r>
            <a:endParaRPr sz="900">
              <a:latin typeface="Arial"/>
              <a:ea typeface="Arial"/>
              <a:cs typeface="Arial"/>
              <a:sym typeface="Arial"/>
            </a:endParaRPr>
          </a:p>
          <a:p>
            <a:pPr marL="914400" lvl="1" indent="-285750" algn="l" rtl="0">
              <a:lnSpc>
                <a:spcPct val="90000"/>
              </a:lnSpc>
              <a:spcBef>
                <a:spcPts val="0"/>
              </a:spcBef>
              <a:spcAft>
                <a:spcPts val="0"/>
              </a:spcAft>
              <a:buClr>
                <a:schemeClr val="dk1"/>
              </a:buClr>
              <a:buSzPts val="900"/>
              <a:buChar char="•"/>
            </a:pPr>
            <a:r>
              <a:rPr lang="en-US" sz="900">
                <a:latin typeface="Arial"/>
                <a:ea typeface="Arial"/>
                <a:cs typeface="Arial"/>
                <a:sym typeface="Arial"/>
              </a:rPr>
              <a:t>‘’Inflation_annual_percentage’’ is </a:t>
            </a:r>
            <a:r>
              <a:rPr lang="en-US" sz="900" b="1">
                <a:solidFill>
                  <a:srgbClr val="A61C00"/>
                </a:solidFill>
                <a:latin typeface="Arial"/>
                <a:ea typeface="Arial"/>
                <a:cs typeface="Arial"/>
                <a:sym typeface="Arial"/>
              </a:rPr>
              <a:t>highly</a:t>
            </a:r>
            <a:r>
              <a:rPr lang="en-US" sz="900">
                <a:latin typeface="Arial"/>
                <a:ea typeface="Arial"/>
                <a:cs typeface="Arial"/>
                <a:sym typeface="Arial"/>
              </a:rPr>
              <a:t> skewed (Skewness = 18.66), </a:t>
            </a:r>
            <a:endParaRPr sz="900">
              <a:latin typeface="Arial"/>
              <a:ea typeface="Arial"/>
              <a:cs typeface="Arial"/>
              <a:sym typeface="Arial"/>
            </a:endParaRPr>
          </a:p>
          <a:p>
            <a:pPr marL="914400" lvl="1" indent="-285750" algn="l" rtl="0">
              <a:lnSpc>
                <a:spcPct val="90000"/>
              </a:lnSpc>
              <a:spcBef>
                <a:spcPts val="0"/>
              </a:spcBef>
              <a:spcAft>
                <a:spcPts val="0"/>
              </a:spcAft>
              <a:buClr>
                <a:schemeClr val="dk1"/>
              </a:buClr>
              <a:buSzPts val="900"/>
              <a:buChar char="•"/>
            </a:pPr>
            <a:r>
              <a:rPr lang="en-US" sz="900">
                <a:latin typeface="Arial"/>
                <a:ea typeface="Arial"/>
                <a:cs typeface="Arial"/>
                <a:sym typeface="Arial"/>
              </a:rPr>
              <a:t>followed by the variables ‘’Number_of_infant_deaths’’ and ‘’Number_of_under_5_deaths’’. The variable ‘’Oil rents percentage of GDP’’ is slightly skewed </a:t>
            </a:r>
            <a:endParaRPr sz="900"/>
          </a:p>
          <a:p>
            <a:pPr marL="914400" lvl="1" indent="-285750" algn="l" rtl="0">
              <a:lnSpc>
                <a:spcPct val="90000"/>
              </a:lnSpc>
              <a:spcBef>
                <a:spcPts val="0"/>
              </a:spcBef>
              <a:spcAft>
                <a:spcPts val="0"/>
              </a:spcAft>
              <a:buClr>
                <a:schemeClr val="dk1"/>
              </a:buClr>
              <a:buSzPts val="900"/>
              <a:buAutoNum type="alphaLcPeriod"/>
            </a:pPr>
            <a:r>
              <a:rPr lang="en-US" sz="900"/>
              <a:t>Outliers: at least 12 variables. found by histogram and box plots</a:t>
            </a:r>
            <a:endParaRPr sz="900"/>
          </a:p>
          <a:p>
            <a:pPr marL="914400" lvl="1" indent="-285750" algn="l" rtl="0">
              <a:lnSpc>
                <a:spcPct val="90000"/>
              </a:lnSpc>
              <a:spcBef>
                <a:spcPts val="0"/>
              </a:spcBef>
              <a:spcAft>
                <a:spcPts val="0"/>
              </a:spcAft>
              <a:buClr>
                <a:schemeClr val="dk1"/>
              </a:buClr>
              <a:buSzPts val="900"/>
              <a:buAutoNum type="alphaLcPeriod"/>
            </a:pPr>
            <a:r>
              <a:rPr lang="en-US" sz="900"/>
              <a:t>Standard deviations are also very large in these variables: </a:t>
            </a:r>
            <a:endParaRPr sz="900"/>
          </a:p>
          <a:p>
            <a:pPr marL="914400" lvl="0" indent="0" algn="l" rtl="0">
              <a:lnSpc>
                <a:spcPct val="90000"/>
              </a:lnSpc>
              <a:spcBef>
                <a:spcPts val="0"/>
              </a:spcBef>
              <a:spcAft>
                <a:spcPts val="0"/>
              </a:spcAft>
              <a:buClr>
                <a:schemeClr val="dk1"/>
              </a:buClr>
              <a:buSzPts val="1100"/>
              <a:buFont typeface="Arial"/>
              <a:buNone/>
            </a:pPr>
            <a:r>
              <a:rPr lang="en-US" sz="900"/>
              <a:t>‘’GDP per capita PPP’’, ‘’GNI per capita PPP’’, ‘’Number of under 5 deaths’’  and ‘’Number of infant deaths’’. </a:t>
            </a:r>
            <a:endParaRPr sz="900"/>
          </a:p>
          <a:p>
            <a:pPr marL="914400" lvl="1" indent="-285750" algn="l" rtl="0">
              <a:lnSpc>
                <a:spcPct val="90000"/>
              </a:lnSpc>
              <a:spcBef>
                <a:spcPts val="0"/>
              </a:spcBef>
              <a:spcAft>
                <a:spcPts val="0"/>
              </a:spcAft>
              <a:buClr>
                <a:schemeClr val="dk1"/>
              </a:buClr>
              <a:buSzPts val="900"/>
              <a:buAutoNum type="alphaLcPeriod"/>
            </a:pPr>
            <a:r>
              <a:rPr lang="en-US" sz="900"/>
              <a:t>Relationship of variables</a:t>
            </a:r>
            <a:endParaRPr sz="900"/>
          </a:p>
          <a:p>
            <a:pPr marL="457200" lvl="0" indent="-342900" algn="l" rtl="0">
              <a:lnSpc>
                <a:spcPct val="90000"/>
              </a:lnSpc>
              <a:spcBef>
                <a:spcPts val="0"/>
              </a:spcBef>
              <a:spcAft>
                <a:spcPts val="0"/>
              </a:spcAft>
              <a:buClr>
                <a:schemeClr val="dk1"/>
              </a:buClr>
              <a:buSzPts val="1800"/>
              <a:buAutoNum type="arabicPeriod"/>
            </a:pPr>
            <a:r>
              <a:rPr lang="en-US" sz="1800"/>
              <a:t>Variables that have Outliers:  </a:t>
            </a:r>
            <a:r>
              <a:rPr lang="en-US" sz="1800">
                <a:highlight>
                  <a:srgbClr val="FFFF00"/>
                </a:highlight>
              </a:rPr>
              <a:t> &gt; </a:t>
            </a:r>
            <a:r>
              <a:rPr lang="en-US" sz="1800"/>
              <a:t>12 variables. </a:t>
            </a:r>
            <a:endParaRPr sz="1800"/>
          </a:p>
          <a:p>
            <a:pPr marL="457200" lvl="0" indent="457200" algn="l" rtl="0">
              <a:lnSpc>
                <a:spcPct val="90000"/>
              </a:lnSpc>
              <a:spcBef>
                <a:spcPts val="0"/>
              </a:spcBef>
              <a:spcAft>
                <a:spcPts val="0"/>
              </a:spcAft>
              <a:buNone/>
            </a:pPr>
            <a:r>
              <a:rPr lang="en-US" sz="1800"/>
              <a:t>                       Presented by histograms and box plots,  </a:t>
            </a:r>
            <a:endParaRPr sz="900"/>
          </a:p>
        </p:txBody>
      </p:sp>
      <p:sp>
        <p:nvSpPr>
          <p:cNvPr id="200" name="Google Shape;200;g6b5a2886c0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6b5a2886c0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6b5a2886c0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1100"/>
              <a:buFont typeface="Arial"/>
              <a:buNone/>
            </a:pPr>
            <a:endParaRPr sz="900" b="1"/>
          </a:p>
          <a:p>
            <a:pPr marL="0" lvl="0" indent="0" algn="l" rtl="0">
              <a:lnSpc>
                <a:spcPct val="90000"/>
              </a:lnSpc>
              <a:spcBef>
                <a:spcPts val="1000"/>
              </a:spcBef>
              <a:spcAft>
                <a:spcPts val="0"/>
              </a:spcAft>
              <a:buClr>
                <a:schemeClr val="dk1"/>
              </a:buClr>
              <a:buSzPts val="1100"/>
              <a:buFont typeface="Arial"/>
              <a:buNone/>
            </a:pPr>
            <a:r>
              <a:rPr lang="en-US" sz="900" b="1"/>
              <a:t>3. Methods used to deal with data issues </a:t>
            </a:r>
            <a:endParaRPr sz="900" b="1"/>
          </a:p>
          <a:p>
            <a:pPr marL="0" lvl="0" indent="0" algn="l" rtl="0">
              <a:lnSpc>
                <a:spcPct val="90000"/>
              </a:lnSpc>
              <a:spcBef>
                <a:spcPts val="1000"/>
              </a:spcBef>
              <a:spcAft>
                <a:spcPts val="0"/>
              </a:spcAft>
              <a:buClr>
                <a:schemeClr val="dk1"/>
              </a:buClr>
              <a:buSzPts val="1100"/>
              <a:buFont typeface="Arial"/>
              <a:buNone/>
            </a:pPr>
            <a:r>
              <a:rPr lang="en-US" sz="900" b="1"/>
              <a:t>Missing values: </a:t>
            </a:r>
            <a:endParaRPr sz="900" b="1"/>
          </a:p>
          <a:p>
            <a:pPr marL="0" lvl="0" indent="0" algn="l" rtl="0">
              <a:lnSpc>
                <a:spcPct val="90000"/>
              </a:lnSpc>
              <a:spcBef>
                <a:spcPts val="1000"/>
              </a:spcBef>
              <a:spcAft>
                <a:spcPts val="0"/>
              </a:spcAft>
              <a:buClr>
                <a:schemeClr val="dk1"/>
              </a:buClr>
              <a:buSzPts val="1100"/>
              <a:buFont typeface="Arial"/>
              <a:buNone/>
            </a:pPr>
            <a:r>
              <a:rPr lang="en-US" sz="900" b="1"/>
              <a:t>Impute node . </a:t>
            </a:r>
            <a:r>
              <a:rPr lang="en-US" sz="900" i="1"/>
              <a:t>Tree Surrgate for 2 types of variables and setting missing cutoff 100%. other settings: default. </a:t>
            </a:r>
            <a:endParaRPr sz="900" i="1"/>
          </a:p>
          <a:p>
            <a:pPr marL="0" lvl="0" indent="0" algn="l" rtl="0">
              <a:lnSpc>
                <a:spcPct val="90000"/>
              </a:lnSpc>
              <a:spcBef>
                <a:spcPts val="1000"/>
              </a:spcBef>
              <a:spcAft>
                <a:spcPts val="0"/>
              </a:spcAft>
              <a:buClr>
                <a:schemeClr val="dk1"/>
              </a:buClr>
              <a:buSzPts val="1100"/>
              <a:buFont typeface="Arial"/>
              <a:buNone/>
            </a:pPr>
            <a:r>
              <a:rPr lang="en-US" sz="900" b="1"/>
              <a:t>Outliers: </a:t>
            </a:r>
            <a:r>
              <a:rPr lang="en-US" sz="900"/>
              <a:t>filter node</a:t>
            </a:r>
            <a:endParaRPr sz="900"/>
          </a:p>
          <a:p>
            <a:pPr marL="0" lvl="0" indent="0" algn="l" rtl="0">
              <a:lnSpc>
                <a:spcPct val="90000"/>
              </a:lnSpc>
              <a:spcBef>
                <a:spcPts val="1000"/>
              </a:spcBef>
              <a:spcAft>
                <a:spcPts val="0"/>
              </a:spcAft>
              <a:buClr>
                <a:schemeClr val="dk1"/>
              </a:buClr>
              <a:buSzPts val="1100"/>
              <a:buFont typeface="Arial"/>
              <a:buNone/>
            </a:pPr>
            <a:endParaRPr sz="900" b="1"/>
          </a:p>
          <a:p>
            <a:pPr marL="0" lvl="0" indent="0" algn="l" rtl="0">
              <a:lnSpc>
                <a:spcPct val="90000"/>
              </a:lnSpc>
              <a:spcBef>
                <a:spcPts val="1000"/>
              </a:spcBef>
              <a:spcAft>
                <a:spcPts val="0"/>
              </a:spcAft>
              <a:buClr>
                <a:schemeClr val="dk1"/>
              </a:buClr>
              <a:buSzPts val="1100"/>
              <a:buFont typeface="Arial"/>
              <a:buNone/>
            </a:pPr>
            <a:endParaRPr sz="900" b="1"/>
          </a:p>
          <a:p>
            <a:pPr marL="0" lvl="0" indent="0" algn="l" rtl="0">
              <a:lnSpc>
                <a:spcPct val="90000"/>
              </a:lnSpc>
              <a:spcBef>
                <a:spcPts val="1000"/>
              </a:spcBef>
              <a:spcAft>
                <a:spcPts val="0"/>
              </a:spcAft>
              <a:buClr>
                <a:schemeClr val="dk1"/>
              </a:buClr>
              <a:buSzPts val="1100"/>
              <a:buFont typeface="Arial"/>
              <a:buNone/>
            </a:pPr>
            <a:r>
              <a:rPr lang="en-US" sz="900" b="1"/>
              <a:t>Skewness: </a:t>
            </a:r>
            <a:r>
              <a:rPr lang="en-US" sz="900"/>
              <a:t>Transform node and log 10 for </a:t>
            </a:r>
            <a:r>
              <a:rPr lang="en-US" sz="900">
                <a:latin typeface="Arial"/>
                <a:ea typeface="Arial"/>
                <a:cs typeface="Arial"/>
                <a:sym typeface="Arial"/>
              </a:rPr>
              <a:t> ‘’Inflation_annual_percentage’’ is highly skewed (Skewness = 18.66), followed by the variables ‘’Number_of_infant_deaths’’ and ‘’Number_of_under_5_deaths’’. The variable ‘’Oil rents percentage of GDP’’ </a:t>
            </a:r>
            <a:endParaRPr sz="900">
              <a:latin typeface="Arial"/>
              <a:ea typeface="Arial"/>
              <a:cs typeface="Arial"/>
              <a:sym typeface="Arial"/>
            </a:endParaRPr>
          </a:p>
          <a:p>
            <a:pPr marL="0" lvl="0" indent="0" algn="l" rtl="0">
              <a:lnSpc>
                <a:spcPct val="90000"/>
              </a:lnSpc>
              <a:spcBef>
                <a:spcPts val="1000"/>
              </a:spcBef>
              <a:spcAft>
                <a:spcPts val="0"/>
              </a:spcAft>
              <a:buClr>
                <a:schemeClr val="dk1"/>
              </a:buClr>
              <a:buSzPts val="1100"/>
              <a:buFont typeface="Arial"/>
              <a:buNone/>
            </a:pPr>
            <a:r>
              <a:rPr lang="en-US" sz="900" b="1"/>
              <a:t> Stabilizing variance</a:t>
            </a:r>
            <a:r>
              <a:rPr lang="en-US" sz="900">
                <a:latin typeface="Arial"/>
                <a:ea typeface="Arial"/>
                <a:cs typeface="Arial"/>
                <a:sym typeface="Arial"/>
              </a:rPr>
              <a:t>  </a:t>
            </a:r>
            <a:r>
              <a:rPr lang="en-US" sz="900"/>
              <a:t>transform variable by standardization.(exclude nominal in this step) </a:t>
            </a:r>
            <a:endParaRPr sz="900"/>
          </a:p>
          <a:p>
            <a:pPr marL="0" lvl="0" indent="0" algn="l" rtl="0">
              <a:lnSpc>
                <a:spcPct val="90000"/>
              </a:lnSpc>
              <a:spcBef>
                <a:spcPts val="1000"/>
              </a:spcBef>
              <a:spcAft>
                <a:spcPts val="0"/>
              </a:spcAft>
              <a:buClr>
                <a:schemeClr val="dk1"/>
              </a:buClr>
              <a:buSzPts val="1100"/>
              <a:buFont typeface="Arial"/>
              <a:buNone/>
            </a:pPr>
            <a:endParaRPr sz="900">
              <a:latin typeface="Arial"/>
              <a:ea typeface="Arial"/>
              <a:cs typeface="Arial"/>
              <a:sym typeface="Arial"/>
            </a:endParaRPr>
          </a:p>
          <a:p>
            <a:pPr marL="0" lvl="0" indent="0" algn="l" rtl="0">
              <a:lnSpc>
                <a:spcPct val="90000"/>
              </a:lnSpc>
              <a:spcBef>
                <a:spcPts val="1000"/>
              </a:spcBef>
              <a:spcAft>
                <a:spcPts val="0"/>
              </a:spcAft>
              <a:buClr>
                <a:schemeClr val="dk1"/>
              </a:buClr>
              <a:buSzPts val="1100"/>
              <a:buFont typeface="Arial"/>
              <a:buNone/>
            </a:pPr>
            <a:r>
              <a:rPr lang="en-US" sz="900" b="1"/>
              <a:t>Redundancy: </a:t>
            </a:r>
            <a:endParaRPr sz="900" b="1"/>
          </a:p>
          <a:p>
            <a:pPr marL="0" lvl="0" indent="0" algn="l" rtl="0">
              <a:lnSpc>
                <a:spcPct val="90000"/>
              </a:lnSpc>
              <a:spcBef>
                <a:spcPts val="1000"/>
              </a:spcBef>
              <a:spcAft>
                <a:spcPts val="0"/>
              </a:spcAft>
              <a:buClr>
                <a:schemeClr val="dk1"/>
              </a:buClr>
              <a:buSzPts val="1100"/>
              <a:buFont typeface="Arial"/>
              <a:buNone/>
            </a:pPr>
            <a:r>
              <a:rPr lang="en-US" sz="900" b="1"/>
              <a:t>variable selection-</a:t>
            </a:r>
            <a:r>
              <a:rPr lang="en-US" sz="900"/>
              <a:t>-</a:t>
            </a:r>
            <a:r>
              <a:rPr lang="en-US" sz="900">
                <a:latin typeface="Arial"/>
                <a:ea typeface="Arial"/>
                <a:cs typeface="Arial"/>
                <a:sym typeface="Arial"/>
              </a:rPr>
              <a:t>Minimum R square of 0.005 and a minimum Chi square of 3.84</a:t>
            </a:r>
            <a:r>
              <a:rPr lang="en-US" sz="900"/>
              <a:t>, and reject no of infant death in editing variables.</a:t>
            </a:r>
            <a:r>
              <a:rPr lang="en-US" sz="900" b="1"/>
              <a:t>  </a:t>
            </a:r>
            <a:endParaRPr sz="900" b="1"/>
          </a:p>
          <a:p>
            <a:pPr marL="0" lvl="0" indent="0" algn="l" rtl="0">
              <a:spcBef>
                <a:spcPts val="0"/>
              </a:spcBef>
              <a:spcAft>
                <a:spcPts val="0"/>
              </a:spcAft>
              <a:buNone/>
            </a:pPr>
            <a:endParaRPr/>
          </a:p>
        </p:txBody>
      </p:sp>
      <p:sp>
        <p:nvSpPr>
          <p:cNvPr id="209" name="Google Shape;209;g6b5a2886c0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6b5a2886c0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6b5a2886c0_0_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life expectancy at birth, individuals using internet, access to clean fuels and technology,  age dependency ratio, population growth. </a:t>
            </a:r>
            <a:endParaRPr/>
          </a:p>
        </p:txBody>
      </p:sp>
      <p:sp>
        <p:nvSpPr>
          <p:cNvPr id="217" name="Google Shape;217;g6b5a2886c0_0_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6b5a2886c0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6b5a2886c0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90000"/>
              </a:lnSpc>
              <a:spcBef>
                <a:spcPts val="1000"/>
              </a:spcBef>
              <a:spcAft>
                <a:spcPts val="0"/>
              </a:spcAft>
              <a:buNone/>
            </a:pPr>
            <a:r>
              <a:rPr lang="en-US" sz="800">
                <a:latin typeface="Arial"/>
                <a:ea typeface="Arial"/>
                <a:cs typeface="Arial"/>
                <a:sym typeface="Arial"/>
              </a:rPr>
              <a:t>Unsupervised partitioning, Tried multiple K number.</a:t>
            </a:r>
            <a:r>
              <a:rPr lang="en-US" sz="800">
                <a:highlight>
                  <a:srgbClr val="FFFFFF"/>
                </a:highlight>
                <a:latin typeface="Arial"/>
                <a:ea typeface="Arial"/>
                <a:cs typeface="Arial"/>
                <a:sym typeface="Arial"/>
              </a:rPr>
              <a:t>Distance between Segment 3 and Segment 2 is closer than their distance to Segment 1. Segment 2 has the characteristics of developed countries that show a higher mean value on access to clean fuels and technology for cooking, health expenditure percentage of GDP, the percentage of women's employment, the percentage of individuals using the internet, life expectancy at birth, mobile subscriptions per 100 people, the percentage of urban population, and have shorter time required to start a business, lower dependency on young working-age population, a lower number of under-five deaths, and lower population growth rate.</a:t>
            </a:r>
            <a:endParaRPr sz="800"/>
          </a:p>
        </p:txBody>
      </p:sp>
      <p:sp>
        <p:nvSpPr>
          <p:cNvPr id="230" name="Google Shape;230;g6b5a2886c0_0_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7930a62100_0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7930a62100_0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1100"/>
              <a:buFont typeface="Arial"/>
              <a:buNone/>
            </a:pPr>
            <a:r>
              <a:rPr lang="en-US" sz="1100">
                <a:highlight>
                  <a:srgbClr val="FFFFFF"/>
                </a:highlight>
                <a:latin typeface="Arial"/>
                <a:ea typeface="Arial"/>
                <a:cs typeface="Arial"/>
                <a:sym typeface="Arial"/>
              </a:rPr>
              <a:t>14 interval variables are used for generating segments. </a:t>
            </a:r>
            <a:r>
              <a:rPr lang="en-US" sz="1100">
                <a:latin typeface="Arial"/>
                <a:ea typeface="Arial"/>
                <a:cs typeface="Arial"/>
                <a:sym typeface="Arial"/>
              </a:rPr>
              <a:t>The results sho</a:t>
            </a:r>
            <a:r>
              <a:rPr lang="en-US" sz="1100">
                <a:highlight>
                  <a:srgbClr val="FFFFFF"/>
                </a:highlight>
                <a:latin typeface="Arial"/>
                <a:ea typeface="Arial"/>
                <a:cs typeface="Arial"/>
                <a:sym typeface="Arial"/>
              </a:rPr>
              <a:t>w that the five most important variables are: “Life expectancy at birth, total (years)”, “Age dependency ratio, young (% of working-age population)”, “Individuals using the Internet (% of population)”, “Population growth (annual %)”, and “Access to clean fuels and technologies for cooking (% of population)”.</a:t>
            </a:r>
            <a:endParaRPr sz="1100">
              <a:highlight>
                <a:srgbClr val="FFFFFF"/>
              </a:highlight>
              <a:latin typeface="Arial"/>
              <a:ea typeface="Arial"/>
              <a:cs typeface="Arial"/>
              <a:sym typeface="Arial"/>
            </a:endParaRPr>
          </a:p>
          <a:p>
            <a:pPr marL="0" lvl="0" indent="0" algn="just" rtl="0">
              <a:spcBef>
                <a:spcPts val="0"/>
              </a:spcBef>
              <a:spcAft>
                <a:spcPts val="0"/>
              </a:spcAft>
              <a:buClr>
                <a:schemeClr val="dk1"/>
              </a:buClr>
              <a:buSzPts val="1100"/>
              <a:buFont typeface="Arial"/>
              <a:buNone/>
            </a:pPr>
            <a:endParaRPr sz="1100">
              <a:highlight>
                <a:srgbClr val="FFFFFF"/>
              </a:highlight>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41" name="Google Shape;241;g7930a62100_0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6b5a2886c0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6b5a2886c0_0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explain why do we connect 3.2 and 4.2 behind regression 3 and  regression 4</a:t>
            </a:r>
            <a:endParaRPr/>
          </a:p>
          <a:p>
            <a:pPr marL="0" lvl="0" indent="0" algn="l" rtl="0">
              <a:spcBef>
                <a:spcPts val="0"/>
              </a:spcBef>
              <a:spcAft>
                <a:spcPts val="0"/>
              </a:spcAft>
              <a:buNone/>
            </a:pPr>
            <a:r>
              <a:rPr lang="en-US"/>
              <a:t>Regression Type: Linear Regression</a:t>
            </a:r>
            <a:endParaRPr/>
          </a:p>
          <a:p>
            <a:pPr marL="0" lvl="0" indent="0" algn="l" rtl="0">
              <a:spcBef>
                <a:spcPts val="0"/>
              </a:spcBef>
              <a:spcAft>
                <a:spcPts val="0"/>
              </a:spcAft>
              <a:buNone/>
            </a:pPr>
            <a:r>
              <a:rPr lang="en-US"/>
              <a:t>Selection Model: Stepwise</a:t>
            </a:r>
            <a:endParaRPr/>
          </a:p>
          <a:p>
            <a:pPr marL="0" lvl="0" indent="0" algn="l" rtl="0">
              <a:spcBef>
                <a:spcPts val="0"/>
              </a:spcBef>
              <a:spcAft>
                <a:spcPts val="0"/>
              </a:spcAft>
              <a:buNone/>
            </a:pPr>
            <a:r>
              <a:rPr lang="en-US"/>
              <a:t>Selection Criterion: Validation Error</a:t>
            </a:r>
            <a:endParaRPr/>
          </a:p>
        </p:txBody>
      </p:sp>
      <p:sp>
        <p:nvSpPr>
          <p:cNvPr id="249" name="Google Shape;249;g6b5a2886c0_0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794608bdad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794608bdad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g794608bdad_0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6b5a2886c0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6b5a2886c0_0_9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g6b5a2886c0_0_9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794608bdad_2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794608bdad_2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g794608bdad_2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6b5a2886c0_0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6b5a2886c0_0_1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To do: Post a screenshot of model comparison results.</a:t>
            </a:r>
            <a:endParaRPr/>
          </a:p>
        </p:txBody>
      </p:sp>
      <p:sp>
        <p:nvSpPr>
          <p:cNvPr id="291" name="Google Shape;291;g6b5a2886c0_0_1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794608bda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794608bdad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just" rtl="0">
              <a:lnSpc>
                <a:spcPct val="138000"/>
              </a:lnSpc>
              <a:spcBef>
                <a:spcPts val="0"/>
              </a:spcBef>
              <a:spcAft>
                <a:spcPts val="0"/>
              </a:spcAft>
              <a:buClr>
                <a:schemeClr val="dk1"/>
              </a:buClr>
              <a:buSzPts val="1100"/>
              <a:buFont typeface="Arial"/>
              <a:buNone/>
            </a:pPr>
            <a:r>
              <a:rPr lang="en-US" sz="1000">
                <a:latin typeface="Arial"/>
                <a:ea typeface="Arial"/>
                <a:cs typeface="Arial"/>
                <a:sym typeface="Arial"/>
              </a:rPr>
              <a:t>The results of the regression tree 3 shows that the optimal tree has 20 leaves using Access to clean fuels and tech for cooking (% of population) as the first split and majority of the branches falling towards Access to clean fuels and tech for cooking (% of population) </a:t>
            </a:r>
            <a:r>
              <a:rPr lang="en-US" sz="1000">
                <a:solidFill>
                  <a:srgbClr val="FF0000"/>
                </a:solidFill>
                <a:latin typeface="Arial"/>
                <a:ea typeface="Arial"/>
                <a:cs typeface="Arial"/>
                <a:sym typeface="Arial"/>
              </a:rPr>
              <a:t>higher than or equal to -0.5175</a:t>
            </a:r>
            <a:r>
              <a:rPr lang="en-US" sz="1000">
                <a:latin typeface="Arial"/>
                <a:ea typeface="Arial"/>
                <a:cs typeface="Arial"/>
                <a:sym typeface="Arial"/>
              </a:rPr>
              <a:t>. Based on the tree and the variable importance statistics below, 7 variables are important. The five most important variables were: ‘’Access to clean fuels and tech for cooking (% of population)’’, ‘’Age dependency ratio (young percentage of working-age population)’’, ‘’Life expectancy at birth (total years)’’, ‘’Urban  population (% of total population)’’, and ‘’Individuals using Internet (% of population)’’, with each of their variable importance being 1.0, 0.49, 0.44, 0.31, and 0.23 respectively. </a:t>
            </a:r>
            <a:endParaRPr sz="1000">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000">
              <a:latin typeface="Arial"/>
              <a:ea typeface="Arial"/>
              <a:cs typeface="Arial"/>
              <a:sym typeface="Arial"/>
            </a:endParaRPr>
          </a:p>
          <a:p>
            <a:pPr marL="0" lvl="0" indent="0" algn="just" rtl="0">
              <a:lnSpc>
                <a:spcPct val="138000"/>
              </a:lnSpc>
              <a:spcBef>
                <a:spcPts val="0"/>
              </a:spcBef>
              <a:spcAft>
                <a:spcPts val="0"/>
              </a:spcAft>
              <a:buClr>
                <a:schemeClr val="dk1"/>
              </a:buClr>
              <a:buSzPts val="1100"/>
              <a:buFont typeface="Arial"/>
              <a:buNone/>
            </a:pPr>
            <a:r>
              <a:rPr lang="en-US" sz="1000">
                <a:latin typeface="Arial"/>
                <a:ea typeface="Arial"/>
                <a:cs typeface="Arial"/>
                <a:sym typeface="Arial"/>
              </a:rPr>
              <a:t>The subtree assessment plot below shows that the training data and the validation data perform in a similar trend, the error decreases as the number of leaves increases and it stays very minimal after leaf</a:t>
            </a:r>
            <a:r>
              <a:rPr lang="en-US" sz="1000">
                <a:solidFill>
                  <a:srgbClr val="FF0000"/>
                </a:solidFill>
                <a:latin typeface="Arial"/>
                <a:ea typeface="Arial"/>
                <a:cs typeface="Arial"/>
                <a:sym typeface="Arial"/>
              </a:rPr>
              <a:t> </a:t>
            </a:r>
            <a:r>
              <a:rPr lang="en-US" sz="1000">
                <a:latin typeface="Arial"/>
                <a:ea typeface="Arial"/>
                <a:cs typeface="Arial"/>
                <a:sym typeface="Arial"/>
              </a:rPr>
              <a:t>20</a:t>
            </a:r>
            <a:r>
              <a:rPr lang="en-US" sz="1000">
                <a:solidFill>
                  <a:srgbClr val="FF0000"/>
                </a:solidFill>
                <a:latin typeface="Arial"/>
                <a:ea typeface="Arial"/>
                <a:cs typeface="Arial"/>
                <a:sym typeface="Arial"/>
              </a:rPr>
              <a:t>. </a:t>
            </a:r>
            <a:endParaRPr sz="1000">
              <a:solidFill>
                <a:srgbClr val="FF0000"/>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None/>
            </a:pPr>
            <a:endParaRPr/>
          </a:p>
        </p:txBody>
      </p:sp>
      <p:sp>
        <p:nvSpPr>
          <p:cNvPr id="302" name="Google Shape;302;g794608bda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6b5a2886c0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6b5a2886c0_0_1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g6b5a2886c0_0_1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6b5a2886c0_0_1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6b5a2886c0_0_1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g6b5a2886c0_0_1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6b5a2886c0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6b5a2886c0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g6b5a2886c0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6b5a2886c0_1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6b5a2886c0_1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6b5a2886c0_1_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rgbClr val="00853E"/>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2"/>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b="0" i="0" u="none" strike="noStrike" cap="none">
                <a:solidFill>
                  <a:schemeClr val="lt1"/>
                </a:solidFill>
                <a:latin typeface="Calibri"/>
                <a:ea typeface="Calibri"/>
                <a:cs typeface="Calibri"/>
                <a:sym typeface="Calibri"/>
              </a:defRPr>
            </a:lvl1pPr>
            <a:lvl2pPr marL="0" lvl="1" indent="0" algn="ctr">
              <a:spcBef>
                <a:spcPts val="0"/>
              </a:spcBef>
              <a:buNone/>
              <a:defRPr sz="1200" b="0" i="0" u="none" strike="noStrike" cap="none">
                <a:solidFill>
                  <a:schemeClr val="lt1"/>
                </a:solidFill>
                <a:latin typeface="Calibri"/>
                <a:ea typeface="Calibri"/>
                <a:cs typeface="Calibri"/>
                <a:sym typeface="Calibri"/>
              </a:defRPr>
            </a:lvl2pPr>
            <a:lvl3pPr marL="0" lvl="2" indent="0" algn="ctr">
              <a:spcBef>
                <a:spcPts val="0"/>
              </a:spcBef>
              <a:buNone/>
              <a:defRPr sz="1200" b="0" i="0" u="none" strike="noStrike" cap="none">
                <a:solidFill>
                  <a:schemeClr val="lt1"/>
                </a:solidFill>
                <a:latin typeface="Calibri"/>
                <a:ea typeface="Calibri"/>
                <a:cs typeface="Calibri"/>
                <a:sym typeface="Calibri"/>
              </a:defRPr>
            </a:lvl3pPr>
            <a:lvl4pPr marL="0" lvl="3" indent="0" algn="ctr">
              <a:spcBef>
                <a:spcPts val="0"/>
              </a:spcBef>
              <a:buNone/>
              <a:defRPr sz="1200" b="0" i="0" u="none" strike="noStrike" cap="none">
                <a:solidFill>
                  <a:schemeClr val="lt1"/>
                </a:solidFill>
                <a:latin typeface="Calibri"/>
                <a:ea typeface="Calibri"/>
                <a:cs typeface="Calibri"/>
                <a:sym typeface="Calibri"/>
              </a:defRPr>
            </a:lvl4pPr>
            <a:lvl5pPr marL="0" lvl="4" indent="0" algn="ctr">
              <a:spcBef>
                <a:spcPts val="0"/>
              </a:spcBef>
              <a:buNone/>
              <a:defRPr sz="1200" b="0" i="0" u="none" strike="noStrike" cap="none">
                <a:solidFill>
                  <a:schemeClr val="lt1"/>
                </a:solidFill>
                <a:latin typeface="Calibri"/>
                <a:ea typeface="Calibri"/>
                <a:cs typeface="Calibri"/>
                <a:sym typeface="Calibri"/>
              </a:defRPr>
            </a:lvl5pPr>
            <a:lvl6pPr marL="0" lvl="5" indent="0" algn="ctr">
              <a:spcBef>
                <a:spcPts val="0"/>
              </a:spcBef>
              <a:buNone/>
              <a:defRPr sz="1200" b="0" i="0" u="none" strike="noStrike" cap="none">
                <a:solidFill>
                  <a:schemeClr val="lt1"/>
                </a:solidFill>
                <a:latin typeface="Calibri"/>
                <a:ea typeface="Calibri"/>
                <a:cs typeface="Calibri"/>
                <a:sym typeface="Calibri"/>
              </a:defRPr>
            </a:lvl6pPr>
            <a:lvl7pPr marL="0" lvl="6" indent="0" algn="ctr">
              <a:spcBef>
                <a:spcPts val="0"/>
              </a:spcBef>
              <a:buNone/>
              <a:defRPr sz="1200" b="0" i="0" u="none" strike="noStrike" cap="none">
                <a:solidFill>
                  <a:schemeClr val="lt1"/>
                </a:solidFill>
                <a:latin typeface="Calibri"/>
                <a:ea typeface="Calibri"/>
                <a:cs typeface="Calibri"/>
                <a:sym typeface="Calibri"/>
              </a:defRPr>
            </a:lvl7pPr>
            <a:lvl8pPr marL="0" lvl="7" indent="0" algn="ctr">
              <a:spcBef>
                <a:spcPts val="0"/>
              </a:spcBef>
              <a:buNone/>
              <a:defRPr sz="1200" b="0" i="0" u="none" strike="noStrike" cap="none">
                <a:solidFill>
                  <a:schemeClr val="lt1"/>
                </a:solidFill>
                <a:latin typeface="Calibri"/>
                <a:ea typeface="Calibri"/>
                <a:cs typeface="Calibri"/>
                <a:sym typeface="Calibri"/>
              </a:defRPr>
            </a:lvl8pPr>
            <a:lvl9pPr marL="0" lvl="8" indent="0" algn="ctr">
              <a:spcBef>
                <a:spcPts val="0"/>
              </a:spcBef>
              <a:buNone/>
              <a:defRPr sz="1200" b="0" i="0" u="none" strike="noStrike" cap="none">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3"/>
          <p:cNvSpPr txBox="1">
            <a:spLocks noGrp="1"/>
          </p:cNvSpPr>
          <p:nvPr>
            <p:ph type="title"/>
          </p:nvPr>
        </p:nvSpPr>
        <p:spPr>
          <a:xfrm>
            <a:off x="461319" y="365125"/>
            <a:ext cx="10420865" cy="106002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853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3"/>
          <p:cNvSpPr txBox="1">
            <a:spLocks noGrp="1"/>
          </p:cNvSpPr>
          <p:nvPr>
            <p:ph type="body" idx="1"/>
          </p:nvPr>
        </p:nvSpPr>
        <p:spPr>
          <a:xfrm>
            <a:off x="454069" y="1532238"/>
            <a:ext cx="10428115" cy="4644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831850" y="1709738"/>
            <a:ext cx="10050334"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853E"/>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1850" y="4589463"/>
            <a:ext cx="10050334"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4"/>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461319" y="365125"/>
            <a:ext cx="10420865" cy="106002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853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5"/>
          <p:cNvSpPr txBox="1">
            <a:spLocks noGrp="1"/>
          </p:cNvSpPr>
          <p:nvPr>
            <p:ph type="body" idx="1"/>
          </p:nvPr>
        </p:nvSpPr>
        <p:spPr>
          <a:xfrm>
            <a:off x="838200" y="1825625"/>
            <a:ext cx="493776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5"/>
          <p:cNvSpPr txBox="1">
            <a:spLocks noGrp="1"/>
          </p:cNvSpPr>
          <p:nvPr>
            <p:ph type="body" idx="2"/>
          </p:nvPr>
        </p:nvSpPr>
        <p:spPr>
          <a:xfrm>
            <a:off x="5943600" y="1825625"/>
            <a:ext cx="4938583"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853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
          <p:cNvSpPr txBox="1">
            <a:spLocks noGrp="1"/>
          </p:cNvSpPr>
          <p:nvPr>
            <p:ph type="body" idx="1"/>
          </p:nvPr>
        </p:nvSpPr>
        <p:spPr>
          <a:xfrm>
            <a:off x="839787" y="1681163"/>
            <a:ext cx="493586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6"/>
          <p:cNvSpPr txBox="1">
            <a:spLocks noGrp="1"/>
          </p:cNvSpPr>
          <p:nvPr>
            <p:ph type="body" idx="2"/>
          </p:nvPr>
        </p:nvSpPr>
        <p:spPr>
          <a:xfrm>
            <a:off x="839789" y="2505075"/>
            <a:ext cx="493586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6"/>
          <p:cNvSpPr txBox="1">
            <a:spLocks noGrp="1"/>
          </p:cNvSpPr>
          <p:nvPr>
            <p:ph type="body" idx="3"/>
          </p:nvPr>
        </p:nvSpPr>
        <p:spPr>
          <a:xfrm>
            <a:off x="5941625" y="1681163"/>
            <a:ext cx="4940559"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6"/>
          <p:cNvSpPr txBox="1">
            <a:spLocks noGrp="1"/>
          </p:cNvSpPr>
          <p:nvPr>
            <p:ph type="body" idx="4"/>
          </p:nvPr>
        </p:nvSpPr>
        <p:spPr>
          <a:xfrm>
            <a:off x="5941624" y="2505075"/>
            <a:ext cx="4940559"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6"/>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6"/>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7"/>
          <p:cNvSpPr txBox="1">
            <a:spLocks noGrp="1"/>
          </p:cNvSpPr>
          <p:nvPr>
            <p:ph type="title"/>
          </p:nvPr>
        </p:nvSpPr>
        <p:spPr>
          <a:xfrm>
            <a:off x="461319" y="365125"/>
            <a:ext cx="10420865" cy="106002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853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7"/>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8"/>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853E"/>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9"/>
          <p:cNvSpPr txBox="1">
            <a:spLocks noGrp="1"/>
          </p:cNvSpPr>
          <p:nvPr>
            <p:ph type="body" idx="1"/>
          </p:nvPr>
        </p:nvSpPr>
        <p:spPr>
          <a:xfrm>
            <a:off x="5183188" y="987425"/>
            <a:ext cx="5698996"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9"/>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853E"/>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0"/>
          <p:cNvSpPr>
            <a:spLocks noGrp="1"/>
          </p:cNvSpPr>
          <p:nvPr>
            <p:ph type="pic" idx="2"/>
          </p:nvPr>
        </p:nvSpPr>
        <p:spPr>
          <a:xfrm>
            <a:off x="5183188" y="987425"/>
            <a:ext cx="5698996"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77" name="Google Shape;77;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10"/>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0"/>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1"/>
          <p:cNvSpPr txBox="1">
            <a:spLocks noGrp="1"/>
          </p:cNvSpPr>
          <p:nvPr>
            <p:ph type="title"/>
          </p:nvPr>
        </p:nvSpPr>
        <p:spPr>
          <a:xfrm>
            <a:off x="461319" y="365125"/>
            <a:ext cx="10420865" cy="1060021"/>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853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1"/>
          <p:cNvSpPr txBox="1">
            <a:spLocks noGrp="1"/>
          </p:cNvSpPr>
          <p:nvPr>
            <p:ph type="body" idx="1"/>
          </p:nvPr>
        </p:nvSpPr>
        <p:spPr>
          <a:xfrm rot="5400000">
            <a:off x="3345765" y="-1359457"/>
            <a:ext cx="4644725" cy="1042811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1"/>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1"/>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00853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12"/>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2"/>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2"/>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61319" y="365125"/>
            <a:ext cx="10420865" cy="1060021"/>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853E"/>
              </a:buClr>
              <a:buSzPts val="3600"/>
              <a:buFont typeface="Calibri"/>
              <a:buNone/>
              <a:defRPr sz="3600" b="1" i="0" u="none" strike="noStrike" cap="none">
                <a:solidFill>
                  <a:srgbClr val="00853E"/>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4069" y="1532238"/>
            <a:ext cx="10428115" cy="4644725"/>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4069" y="6356349"/>
            <a:ext cx="990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516997" y="6356350"/>
            <a:ext cx="9365187"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grpSp>
        <p:nvGrpSpPr>
          <p:cNvPr id="14" name="Google Shape;14;p1"/>
          <p:cNvGrpSpPr/>
          <p:nvPr/>
        </p:nvGrpSpPr>
        <p:grpSpPr>
          <a:xfrm>
            <a:off x="10954512" y="3"/>
            <a:ext cx="1234324" cy="6857997"/>
            <a:chOff x="10954512" y="3"/>
            <a:chExt cx="1234324" cy="6857997"/>
          </a:xfrm>
        </p:grpSpPr>
        <p:pic>
          <p:nvPicPr>
            <p:cNvPr id="15" name="Google Shape;15;p1"/>
            <p:cNvPicPr preferRelativeResize="0"/>
            <p:nvPr/>
          </p:nvPicPr>
          <p:blipFill rotWithShape="1">
            <a:blip r:embed="rId13">
              <a:alphaModFix/>
            </a:blip>
            <a:srcRect/>
            <a:stretch/>
          </p:blipFill>
          <p:spPr>
            <a:xfrm>
              <a:off x="11089139" y="747629"/>
              <a:ext cx="961905" cy="780952"/>
            </a:xfrm>
            <a:prstGeom prst="rect">
              <a:avLst/>
            </a:prstGeom>
            <a:noFill/>
            <a:ln>
              <a:noFill/>
            </a:ln>
          </p:spPr>
        </p:pic>
        <p:sp>
          <p:nvSpPr>
            <p:cNvPr id="16" name="Google Shape;16;p1"/>
            <p:cNvSpPr/>
            <p:nvPr/>
          </p:nvSpPr>
          <p:spPr>
            <a:xfrm>
              <a:off x="11029855" y="3"/>
              <a:ext cx="1158981" cy="584886"/>
            </a:xfrm>
            <a:prstGeom prst="rect">
              <a:avLst/>
            </a:prstGeom>
            <a:gradFill>
              <a:gsLst>
                <a:gs pos="0">
                  <a:srgbClr val="00853E"/>
                </a:gs>
                <a:gs pos="70000">
                  <a:srgbClr val="00853E"/>
                </a:gs>
                <a:gs pos="100000">
                  <a:schemeClr val="l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1"/>
            <p:cNvSpPr/>
            <p:nvPr/>
          </p:nvSpPr>
          <p:spPr>
            <a:xfrm rot="10800000">
              <a:off x="11029853" y="1691323"/>
              <a:ext cx="1158981" cy="5166677"/>
            </a:xfrm>
            <a:prstGeom prst="rect">
              <a:avLst/>
            </a:prstGeom>
            <a:gradFill>
              <a:gsLst>
                <a:gs pos="0">
                  <a:srgbClr val="00853E"/>
                </a:gs>
                <a:gs pos="95000">
                  <a:srgbClr val="00853E"/>
                </a:gs>
                <a:gs pos="100000">
                  <a:schemeClr val="l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1"/>
            <p:cNvSpPr/>
            <p:nvPr/>
          </p:nvSpPr>
          <p:spPr>
            <a:xfrm>
              <a:off x="10954513" y="3"/>
              <a:ext cx="75339" cy="584886"/>
            </a:xfrm>
            <a:prstGeom prst="rect">
              <a:avLst/>
            </a:prstGeom>
            <a:gradFill>
              <a:gsLst>
                <a:gs pos="0">
                  <a:srgbClr val="72B83E"/>
                </a:gs>
                <a:gs pos="70000">
                  <a:srgbClr val="72B83E"/>
                </a:gs>
                <a:gs pos="100000">
                  <a:schemeClr val="l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 name="Google Shape;19;p1"/>
            <p:cNvSpPr/>
            <p:nvPr/>
          </p:nvSpPr>
          <p:spPr>
            <a:xfrm rot="10800000">
              <a:off x="10954512" y="1691323"/>
              <a:ext cx="75339" cy="5166677"/>
            </a:xfrm>
            <a:prstGeom prst="rect">
              <a:avLst/>
            </a:prstGeom>
            <a:gradFill>
              <a:gsLst>
                <a:gs pos="0">
                  <a:srgbClr val="72B83E"/>
                </a:gs>
                <a:gs pos="95000">
                  <a:srgbClr val="72B83E"/>
                </a:gs>
                <a:gs pos="100000">
                  <a:schemeClr val="l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
        <p:nvSpPr>
          <p:cNvPr id="20" name="Google Shape;20;p1"/>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Calibri"/>
                <a:ea typeface="Calibri"/>
                <a:cs typeface="Calibri"/>
                <a:sym typeface="Calibri"/>
              </a:defRPr>
            </a:lvl1pPr>
            <a:lvl2pPr marL="0" marR="0" lvl="1" indent="0" algn="ctr" rtl="0">
              <a:spcBef>
                <a:spcPts val="0"/>
              </a:spcBef>
              <a:buNone/>
              <a:defRPr sz="1200" b="0" i="0" u="none" strike="noStrike" cap="none">
                <a:solidFill>
                  <a:schemeClr val="lt1"/>
                </a:solidFill>
                <a:latin typeface="Calibri"/>
                <a:ea typeface="Calibri"/>
                <a:cs typeface="Calibri"/>
                <a:sym typeface="Calibri"/>
              </a:defRPr>
            </a:lvl2pPr>
            <a:lvl3pPr marL="0" marR="0" lvl="2" indent="0" algn="ctr" rtl="0">
              <a:spcBef>
                <a:spcPts val="0"/>
              </a:spcBef>
              <a:buNone/>
              <a:defRPr sz="1200" b="0" i="0" u="none" strike="noStrike" cap="none">
                <a:solidFill>
                  <a:schemeClr val="lt1"/>
                </a:solidFill>
                <a:latin typeface="Calibri"/>
                <a:ea typeface="Calibri"/>
                <a:cs typeface="Calibri"/>
                <a:sym typeface="Calibri"/>
              </a:defRPr>
            </a:lvl3pPr>
            <a:lvl4pPr marL="0" marR="0" lvl="3" indent="0" algn="ctr" rtl="0">
              <a:spcBef>
                <a:spcPts val="0"/>
              </a:spcBef>
              <a:buNone/>
              <a:defRPr sz="1200" b="0" i="0" u="none" strike="noStrike" cap="none">
                <a:solidFill>
                  <a:schemeClr val="lt1"/>
                </a:solidFill>
                <a:latin typeface="Calibri"/>
                <a:ea typeface="Calibri"/>
                <a:cs typeface="Calibri"/>
                <a:sym typeface="Calibri"/>
              </a:defRPr>
            </a:lvl4pPr>
            <a:lvl5pPr marL="0" marR="0" lvl="4" indent="0" algn="ctr" rtl="0">
              <a:spcBef>
                <a:spcPts val="0"/>
              </a:spcBef>
              <a:buNone/>
              <a:defRPr sz="1200" b="0" i="0" u="none" strike="noStrike" cap="none">
                <a:solidFill>
                  <a:schemeClr val="lt1"/>
                </a:solidFill>
                <a:latin typeface="Calibri"/>
                <a:ea typeface="Calibri"/>
                <a:cs typeface="Calibri"/>
                <a:sym typeface="Calibri"/>
              </a:defRPr>
            </a:lvl5pPr>
            <a:lvl6pPr marL="0" marR="0" lvl="5" indent="0" algn="ctr" rtl="0">
              <a:spcBef>
                <a:spcPts val="0"/>
              </a:spcBef>
              <a:buNone/>
              <a:defRPr sz="1200" b="0" i="0" u="none" strike="noStrike" cap="none">
                <a:solidFill>
                  <a:schemeClr val="lt1"/>
                </a:solidFill>
                <a:latin typeface="Calibri"/>
                <a:ea typeface="Calibri"/>
                <a:cs typeface="Calibri"/>
                <a:sym typeface="Calibri"/>
              </a:defRPr>
            </a:lvl6pPr>
            <a:lvl7pPr marL="0" marR="0" lvl="6" indent="0" algn="ctr" rtl="0">
              <a:spcBef>
                <a:spcPts val="0"/>
              </a:spcBef>
              <a:buNone/>
              <a:defRPr sz="1200" b="0" i="0" u="none" strike="noStrike" cap="none">
                <a:solidFill>
                  <a:schemeClr val="lt1"/>
                </a:solidFill>
                <a:latin typeface="Calibri"/>
                <a:ea typeface="Calibri"/>
                <a:cs typeface="Calibri"/>
                <a:sym typeface="Calibri"/>
              </a:defRPr>
            </a:lvl7pPr>
            <a:lvl8pPr marL="0" marR="0" lvl="7" indent="0" algn="ctr" rtl="0">
              <a:spcBef>
                <a:spcPts val="0"/>
              </a:spcBef>
              <a:buNone/>
              <a:defRPr sz="1200" b="0" i="0" u="none" strike="noStrike" cap="none">
                <a:solidFill>
                  <a:schemeClr val="lt1"/>
                </a:solidFill>
                <a:latin typeface="Calibri"/>
                <a:ea typeface="Calibri"/>
                <a:cs typeface="Calibri"/>
                <a:sym typeface="Calibri"/>
              </a:defRPr>
            </a:lvl8pPr>
            <a:lvl9pPr marL="0" marR="0" lvl="8" indent="0" algn="ctr" rtl="0">
              <a:spcBef>
                <a:spcPts val="0"/>
              </a:spcBef>
              <a:buNone/>
              <a:defRPr sz="1200" b="0" i="0" u="none" strike="noStrike" cap="none">
                <a:solidFill>
                  <a:schemeClr val="lt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grpSp>
        <p:nvGrpSpPr>
          <p:cNvPr id="21" name="Google Shape;21;p1"/>
          <p:cNvGrpSpPr/>
          <p:nvPr/>
        </p:nvGrpSpPr>
        <p:grpSpPr>
          <a:xfrm>
            <a:off x="0" y="3"/>
            <a:ext cx="381741" cy="6857998"/>
            <a:chOff x="0" y="2"/>
            <a:chExt cx="381741" cy="6857998"/>
          </a:xfrm>
        </p:grpSpPr>
        <p:sp>
          <p:nvSpPr>
            <p:cNvPr id="22" name="Google Shape;22;p1"/>
            <p:cNvSpPr/>
            <p:nvPr/>
          </p:nvSpPr>
          <p:spPr>
            <a:xfrm>
              <a:off x="0" y="2"/>
              <a:ext cx="319596" cy="6857998"/>
            </a:xfrm>
            <a:prstGeom prst="rect">
              <a:avLst/>
            </a:prstGeom>
            <a:solidFill>
              <a:srgbClr val="72B8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1"/>
            <p:cNvSpPr/>
            <p:nvPr/>
          </p:nvSpPr>
          <p:spPr>
            <a:xfrm>
              <a:off x="319597" y="4"/>
              <a:ext cx="62144" cy="6857996"/>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ocs.google.com/spreadsheets/d/1Q-8-uCacbW4DBhipwue8uR-qJKwCYQnior8xpy6oJRI/edit?usp=sharing"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economictimes.indiatimes.com/definition/human-development-index?from=mdr" TargetMode="External"/><Relationship Id="rId5" Type="http://schemas.openxmlformats.org/officeDocument/2006/relationships/hyperlink" Target="http://hdr.undp.org/en/hdi-what-it-is" TargetMode="External"/><Relationship Id="rId4" Type="http://schemas.openxmlformats.org/officeDocument/2006/relationships/hyperlink" Target="http://www.economicsdiscussion.net/economic-development/hdi/human-development-index-hdi-indicators-shortcomings-economics/29945"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3"/>
          <p:cNvSpPr txBox="1">
            <a:spLocks noGrp="1"/>
          </p:cNvSpPr>
          <p:nvPr>
            <p:ph type="ctrTitle"/>
          </p:nvPr>
        </p:nvSpPr>
        <p:spPr>
          <a:xfrm>
            <a:off x="1405918" y="1036436"/>
            <a:ext cx="9144000" cy="23877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00853E"/>
              </a:buClr>
              <a:buSzPts val="6000"/>
              <a:buFont typeface="Calibri"/>
              <a:buNone/>
            </a:pPr>
            <a:r>
              <a:rPr lang="en-US" sz="4800" dirty="0"/>
              <a:t>Identifying Important Indicators for Explaining the Human Development Index</a:t>
            </a:r>
            <a:endParaRPr sz="4800" dirty="0"/>
          </a:p>
        </p:txBody>
      </p:sp>
      <p:sp>
        <p:nvSpPr>
          <p:cNvPr id="99" name="Google Shape;99;p13"/>
          <p:cNvSpPr txBox="1">
            <a:spLocks noGrp="1"/>
          </p:cNvSpPr>
          <p:nvPr>
            <p:ph type="subTitle" idx="1"/>
          </p:nvPr>
        </p:nvSpPr>
        <p:spPr>
          <a:xfrm>
            <a:off x="965220" y="3424137"/>
            <a:ext cx="9718800" cy="2839500"/>
          </a:xfrm>
          <a:prstGeom prst="rect">
            <a:avLst/>
          </a:prstGeom>
          <a:noFill/>
          <a:ln>
            <a:noFill/>
          </a:ln>
        </p:spPr>
        <p:txBody>
          <a:bodyPr spcFirstLastPara="1" wrap="square" lIns="91425" tIns="45700" rIns="91425" bIns="45700" anchor="t" anchorCtr="0">
            <a:noAutofit/>
          </a:bodyPr>
          <a:lstStyle/>
          <a:p>
            <a:pPr marL="0" lvl="0" indent="0" algn="ctr" rtl="0">
              <a:lnSpc>
                <a:spcPct val="80000"/>
              </a:lnSpc>
              <a:spcBef>
                <a:spcPts val="0"/>
              </a:spcBef>
              <a:spcAft>
                <a:spcPts val="0"/>
              </a:spcAft>
              <a:buClr>
                <a:schemeClr val="dk1"/>
              </a:buClr>
              <a:buSzPts val="1800"/>
              <a:buNone/>
            </a:pPr>
            <a:endParaRPr sz="1800" dirty="0">
              <a:latin typeface="Georgia"/>
              <a:ea typeface="Georgia"/>
              <a:cs typeface="Georgia"/>
              <a:sym typeface="Georgia"/>
            </a:endParaRPr>
          </a:p>
          <a:p>
            <a:pPr marL="0" lvl="0" indent="0" algn="l" rtl="0">
              <a:lnSpc>
                <a:spcPct val="80000"/>
              </a:lnSpc>
              <a:spcBef>
                <a:spcPts val="1000"/>
              </a:spcBef>
              <a:spcAft>
                <a:spcPts val="0"/>
              </a:spcAft>
              <a:buClr>
                <a:schemeClr val="dk1"/>
              </a:buClr>
              <a:buSzPts val="1800"/>
              <a:buNone/>
            </a:pPr>
            <a:endParaRPr sz="1800" dirty="0">
              <a:latin typeface="Georgia"/>
              <a:ea typeface="Georgia"/>
              <a:cs typeface="Georgia"/>
              <a:sym typeface="Georgia"/>
            </a:endParaRPr>
          </a:p>
          <a:p>
            <a:pPr marL="0" lvl="0" indent="0" algn="ctr" rtl="0">
              <a:lnSpc>
                <a:spcPct val="80000"/>
              </a:lnSpc>
              <a:spcBef>
                <a:spcPts val="1000"/>
              </a:spcBef>
              <a:spcAft>
                <a:spcPts val="0"/>
              </a:spcAft>
              <a:buClr>
                <a:schemeClr val="dk1"/>
              </a:buClr>
              <a:buSzPts val="1800"/>
              <a:buNone/>
            </a:pPr>
            <a:r>
              <a:rPr lang="en-US" sz="1800" dirty="0">
                <a:latin typeface="Georgia"/>
                <a:ea typeface="Georgia"/>
                <a:cs typeface="Georgia"/>
                <a:sym typeface="Georgia"/>
              </a:rPr>
              <a:t>By: </a:t>
            </a:r>
            <a:endParaRPr dirty="0"/>
          </a:p>
          <a:p>
            <a:pPr marL="0" lvl="0" indent="0" algn="ctr" rtl="0">
              <a:lnSpc>
                <a:spcPct val="90000"/>
              </a:lnSpc>
              <a:spcBef>
                <a:spcPts val="0"/>
              </a:spcBef>
              <a:spcAft>
                <a:spcPts val="0"/>
              </a:spcAft>
              <a:buClr>
                <a:schemeClr val="dk1"/>
              </a:buClr>
              <a:buSzPts val="1100"/>
              <a:buNone/>
            </a:pPr>
            <a:r>
              <a:rPr lang="en-US" sz="1800" dirty="0" err="1">
                <a:latin typeface="Georgia"/>
                <a:ea typeface="Georgia"/>
                <a:cs typeface="Georgia"/>
                <a:sym typeface="Georgia"/>
              </a:rPr>
              <a:t>Shristi</a:t>
            </a:r>
            <a:r>
              <a:rPr lang="en-US" sz="1800" dirty="0">
                <a:latin typeface="Georgia"/>
                <a:ea typeface="Georgia"/>
                <a:cs typeface="Georgia"/>
                <a:sym typeface="Georgia"/>
              </a:rPr>
              <a:t> </a:t>
            </a:r>
            <a:r>
              <a:rPr lang="en-US" sz="1800" dirty="0" err="1">
                <a:latin typeface="Georgia"/>
                <a:ea typeface="Georgia"/>
                <a:cs typeface="Georgia"/>
                <a:sym typeface="Georgia"/>
              </a:rPr>
              <a:t>Dhakal</a:t>
            </a:r>
            <a:endParaRPr dirty="0"/>
          </a:p>
          <a:p>
            <a:pPr marL="0" lvl="0" indent="0" algn="ctr" rtl="0">
              <a:lnSpc>
                <a:spcPct val="90000"/>
              </a:lnSpc>
              <a:spcBef>
                <a:spcPts val="0"/>
              </a:spcBef>
              <a:spcAft>
                <a:spcPts val="0"/>
              </a:spcAft>
              <a:buClr>
                <a:schemeClr val="dk1"/>
              </a:buClr>
              <a:buSzPts val="1100"/>
              <a:buNone/>
            </a:pPr>
            <a:r>
              <a:rPr lang="en-US" sz="1800" dirty="0" err="1">
                <a:latin typeface="Georgia"/>
                <a:ea typeface="Georgia"/>
                <a:cs typeface="Georgia"/>
                <a:sym typeface="Georgia"/>
              </a:rPr>
              <a:t>Canhong</a:t>
            </a:r>
            <a:r>
              <a:rPr lang="en-US" sz="1800" dirty="0">
                <a:latin typeface="Georgia"/>
                <a:ea typeface="Georgia"/>
                <a:cs typeface="Georgia"/>
                <a:sym typeface="Georgia"/>
              </a:rPr>
              <a:t> Zhang </a:t>
            </a:r>
            <a:endParaRPr dirty="0"/>
          </a:p>
          <a:p>
            <a:pPr marL="0" lvl="0" indent="0" algn="ctr" rtl="0">
              <a:lnSpc>
                <a:spcPct val="90000"/>
              </a:lnSpc>
              <a:spcBef>
                <a:spcPts val="0"/>
              </a:spcBef>
              <a:spcAft>
                <a:spcPts val="0"/>
              </a:spcAft>
              <a:buClr>
                <a:schemeClr val="dk1"/>
              </a:buClr>
              <a:buSzPts val="1100"/>
              <a:buNone/>
            </a:pPr>
            <a:r>
              <a:rPr lang="en-US" sz="1800" dirty="0">
                <a:latin typeface="Georgia"/>
                <a:ea typeface="Georgia"/>
                <a:cs typeface="Georgia"/>
                <a:sym typeface="Georgia"/>
              </a:rPr>
              <a:t>Angele Abi Yaghi </a:t>
            </a:r>
            <a:endParaRPr dirty="0"/>
          </a:p>
          <a:p>
            <a:pPr marL="0" lvl="0" indent="0" algn="ctr" rtl="0">
              <a:lnSpc>
                <a:spcPct val="90000"/>
              </a:lnSpc>
              <a:spcBef>
                <a:spcPts val="0"/>
              </a:spcBef>
              <a:spcAft>
                <a:spcPts val="0"/>
              </a:spcAft>
              <a:buClr>
                <a:schemeClr val="dk1"/>
              </a:buClr>
              <a:buSzPts val="1100"/>
              <a:buNone/>
            </a:pPr>
            <a:r>
              <a:rPr lang="en-US" sz="1800" dirty="0" err="1">
                <a:latin typeface="Georgia"/>
                <a:ea typeface="Georgia"/>
                <a:cs typeface="Georgia"/>
                <a:sym typeface="Georgia"/>
              </a:rPr>
              <a:t>Bomi</a:t>
            </a:r>
            <a:r>
              <a:rPr lang="en-US" sz="1800" dirty="0">
                <a:latin typeface="Georgia"/>
                <a:ea typeface="Georgia"/>
                <a:cs typeface="Georgia"/>
                <a:sym typeface="Georgia"/>
              </a:rPr>
              <a:t> Choi</a:t>
            </a:r>
            <a:endParaRPr sz="1800" dirty="0">
              <a:latin typeface="Georgia"/>
              <a:ea typeface="Georgia"/>
              <a:cs typeface="Georgia"/>
              <a:sym typeface="Georgia"/>
            </a:endParaRPr>
          </a:p>
          <a:p>
            <a:pPr marL="0" lvl="0" indent="0" algn="ctr" rtl="0">
              <a:lnSpc>
                <a:spcPct val="90000"/>
              </a:lnSpc>
              <a:spcBef>
                <a:spcPts val="0"/>
              </a:spcBef>
              <a:spcAft>
                <a:spcPts val="0"/>
              </a:spcAft>
              <a:buClr>
                <a:schemeClr val="dk1"/>
              </a:buClr>
              <a:buSzPts val="1100"/>
              <a:buNone/>
            </a:pPr>
            <a:endParaRPr sz="1800" dirty="0">
              <a:latin typeface="Georgia"/>
              <a:ea typeface="Georgia"/>
              <a:cs typeface="Georgia"/>
              <a:sym typeface="Georgia"/>
            </a:endParaRPr>
          </a:p>
          <a:p>
            <a:pPr marL="0" lvl="0" indent="0" algn="ctr" rtl="0">
              <a:lnSpc>
                <a:spcPct val="90000"/>
              </a:lnSpc>
              <a:spcBef>
                <a:spcPts val="0"/>
              </a:spcBef>
              <a:spcAft>
                <a:spcPts val="0"/>
              </a:spcAft>
              <a:buClr>
                <a:schemeClr val="dk1"/>
              </a:buClr>
              <a:buSzPts val="1100"/>
              <a:buNone/>
            </a:pPr>
            <a:endParaRPr sz="1800" dirty="0">
              <a:latin typeface="Georgia"/>
              <a:ea typeface="Georgia"/>
              <a:cs typeface="Georgia"/>
              <a:sym typeface="Georgia"/>
            </a:endParaRPr>
          </a:p>
          <a:p>
            <a:pPr marL="0" lvl="0" indent="0" algn="ctr" rtl="0">
              <a:lnSpc>
                <a:spcPct val="90000"/>
              </a:lnSpc>
              <a:spcBef>
                <a:spcPts val="0"/>
              </a:spcBef>
              <a:spcAft>
                <a:spcPts val="0"/>
              </a:spcAft>
              <a:buClr>
                <a:schemeClr val="dk1"/>
              </a:buClr>
              <a:buSzPts val="1100"/>
              <a:buNone/>
            </a:pPr>
            <a:r>
              <a:rPr lang="en-US" sz="1800" dirty="0">
                <a:latin typeface="Georgia"/>
                <a:ea typeface="Georgia"/>
                <a:cs typeface="Georgia"/>
                <a:sym typeface="Georgia"/>
              </a:rPr>
              <a:t>November 26th, 2019</a:t>
            </a:r>
            <a:endParaRPr dirty="0"/>
          </a:p>
          <a:p>
            <a:pPr marL="0" lvl="0" indent="0" algn="ctr" rtl="0">
              <a:lnSpc>
                <a:spcPct val="80000"/>
              </a:lnSpc>
              <a:spcBef>
                <a:spcPts val="1000"/>
              </a:spcBef>
              <a:spcAft>
                <a:spcPts val="0"/>
              </a:spcAft>
              <a:buClr>
                <a:schemeClr val="dk1"/>
              </a:buClr>
              <a:buSzPts val="12800"/>
              <a:buNone/>
            </a:pPr>
            <a:endParaRPr sz="12800" dirty="0"/>
          </a:p>
          <a:p>
            <a:pPr marL="0" lvl="0" indent="0" algn="ctr" rtl="0">
              <a:lnSpc>
                <a:spcPct val="80000"/>
              </a:lnSpc>
              <a:spcBef>
                <a:spcPts val="1000"/>
              </a:spcBef>
              <a:spcAft>
                <a:spcPts val="0"/>
              </a:spcAft>
              <a:buClr>
                <a:schemeClr val="dk1"/>
              </a:buClr>
              <a:buSzPts val="2400"/>
              <a:buNone/>
            </a:pPr>
            <a:endParaRPr dirty="0"/>
          </a:p>
        </p:txBody>
      </p:sp>
      <p:sp>
        <p:nvSpPr>
          <p:cNvPr id="100" name="Google Shape;100;p13"/>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461319" y="365125"/>
            <a:ext cx="10420800" cy="1059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853E"/>
              </a:buClr>
              <a:buSzPts val="3600"/>
              <a:buFont typeface="Calibri"/>
              <a:buNone/>
            </a:pPr>
            <a:r>
              <a:rPr lang="en-US"/>
              <a:t>Project Introduction</a:t>
            </a:r>
            <a:endParaRPr/>
          </a:p>
        </p:txBody>
      </p:sp>
      <p:sp>
        <p:nvSpPr>
          <p:cNvPr id="106" name="Google Shape;106;p14"/>
          <p:cNvSpPr txBox="1">
            <a:spLocks noGrp="1"/>
          </p:cNvSpPr>
          <p:nvPr>
            <p:ph type="body" idx="1"/>
          </p:nvPr>
        </p:nvSpPr>
        <p:spPr>
          <a:xfrm>
            <a:off x="454075" y="1532251"/>
            <a:ext cx="10428000" cy="518910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b="1"/>
              <a:t>Human Development Index (HDI) </a:t>
            </a:r>
            <a:endParaRPr b="1"/>
          </a:p>
          <a:p>
            <a:pPr marL="228600" lvl="0" indent="0" algn="l" rtl="0">
              <a:lnSpc>
                <a:spcPct val="90000"/>
              </a:lnSpc>
              <a:spcBef>
                <a:spcPts val="0"/>
              </a:spcBef>
              <a:spcAft>
                <a:spcPts val="0"/>
              </a:spcAft>
              <a:buNone/>
            </a:pPr>
            <a:endParaRPr b="1"/>
          </a:p>
          <a:p>
            <a:pPr marL="685800" lvl="1" indent="-254000" algn="l" rtl="0">
              <a:lnSpc>
                <a:spcPct val="90000"/>
              </a:lnSpc>
              <a:spcBef>
                <a:spcPts val="0"/>
              </a:spcBef>
              <a:spcAft>
                <a:spcPts val="0"/>
              </a:spcAft>
              <a:buSzPts val="2200"/>
              <a:buChar char="○"/>
            </a:pPr>
            <a:r>
              <a:rPr lang="en-US" sz="2200" b="1"/>
              <a:t>Definition</a:t>
            </a:r>
            <a:endParaRPr sz="2200"/>
          </a:p>
          <a:p>
            <a:pPr marL="685800" lvl="0" indent="0" algn="l" rtl="0">
              <a:lnSpc>
                <a:spcPct val="90000"/>
              </a:lnSpc>
              <a:spcBef>
                <a:spcPts val="0"/>
              </a:spcBef>
              <a:spcAft>
                <a:spcPts val="0"/>
              </a:spcAft>
              <a:buNone/>
            </a:pPr>
            <a:r>
              <a:rPr lang="en-US" sz="2200"/>
              <a:t>A statistical tool used to measure a country’s overall achievement in its social and economic dimensions (“The Economic Times,” .n.d.). </a:t>
            </a:r>
            <a:endParaRPr sz="2200"/>
          </a:p>
          <a:p>
            <a:pPr marL="0" lvl="0" indent="0" algn="l" rtl="0">
              <a:lnSpc>
                <a:spcPct val="90000"/>
              </a:lnSpc>
              <a:spcBef>
                <a:spcPts val="0"/>
              </a:spcBef>
              <a:spcAft>
                <a:spcPts val="0"/>
              </a:spcAft>
              <a:buNone/>
            </a:pPr>
            <a:endParaRPr sz="2200"/>
          </a:p>
          <a:p>
            <a:pPr marL="685800" marR="0" lvl="1" indent="-254000" algn="l" rtl="0">
              <a:lnSpc>
                <a:spcPct val="90000"/>
              </a:lnSpc>
              <a:spcBef>
                <a:spcPts val="0"/>
              </a:spcBef>
              <a:spcAft>
                <a:spcPts val="0"/>
              </a:spcAft>
              <a:buSzPts val="2200"/>
              <a:buChar char="○"/>
            </a:pPr>
            <a:r>
              <a:rPr lang="en-US" sz="2200" b="1"/>
              <a:t> Indicators</a:t>
            </a:r>
            <a:endParaRPr sz="2200"/>
          </a:p>
          <a:p>
            <a:pPr marL="685800" marR="0" lvl="0" indent="0" algn="l" rtl="0">
              <a:lnSpc>
                <a:spcPct val="90000"/>
              </a:lnSpc>
              <a:spcBef>
                <a:spcPts val="0"/>
              </a:spcBef>
              <a:spcAft>
                <a:spcPts val="0"/>
              </a:spcAft>
              <a:buNone/>
            </a:pPr>
            <a:endParaRPr sz="2200"/>
          </a:p>
          <a:p>
            <a:pPr marL="685800" lvl="0" indent="0" algn="l" rtl="0">
              <a:spcBef>
                <a:spcPts val="0"/>
              </a:spcBef>
              <a:spcAft>
                <a:spcPts val="0"/>
              </a:spcAft>
              <a:buNone/>
            </a:pPr>
            <a:r>
              <a:rPr lang="en-US" sz="2200"/>
              <a:t>Ayesha, n.d.:</a:t>
            </a:r>
            <a:endParaRPr sz="2200"/>
          </a:p>
          <a:p>
            <a:pPr marL="2514600" lvl="0" indent="0" algn="l" rtl="0">
              <a:lnSpc>
                <a:spcPct val="90000"/>
              </a:lnSpc>
              <a:spcBef>
                <a:spcPts val="0"/>
              </a:spcBef>
              <a:spcAft>
                <a:spcPts val="0"/>
              </a:spcAft>
              <a:buNone/>
            </a:pPr>
            <a:r>
              <a:rPr lang="en-US" sz="2200"/>
              <a:t>			                                 								</a:t>
            </a:r>
            <a:endParaRPr sz="2200"/>
          </a:p>
          <a:p>
            <a:pPr marL="685800" marR="0" lvl="0" indent="0" algn="l" rtl="0">
              <a:lnSpc>
                <a:spcPct val="90000"/>
              </a:lnSpc>
              <a:spcBef>
                <a:spcPts val="0"/>
              </a:spcBef>
              <a:spcAft>
                <a:spcPts val="0"/>
              </a:spcAft>
              <a:buNone/>
            </a:pPr>
            <a:endParaRPr sz="2200"/>
          </a:p>
          <a:p>
            <a:pPr marL="685800" marR="0" lvl="0" indent="0" algn="l" rtl="0">
              <a:lnSpc>
                <a:spcPct val="90000"/>
              </a:lnSpc>
              <a:spcBef>
                <a:spcPts val="0"/>
              </a:spcBef>
              <a:spcAft>
                <a:spcPts val="0"/>
              </a:spcAft>
              <a:buNone/>
            </a:pPr>
            <a:endParaRPr sz="2200"/>
          </a:p>
          <a:p>
            <a:pPr marL="685800" marR="0" lvl="0" indent="0" algn="l" rtl="0">
              <a:lnSpc>
                <a:spcPct val="90000"/>
              </a:lnSpc>
              <a:spcBef>
                <a:spcPts val="0"/>
              </a:spcBef>
              <a:spcAft>
                <a:spcPts val="0"/>
              </a:spcAft>
              <a:buNone/>
            </a:pPr>
            <a:r>
              <a:rPr lang="en-US" sz="2200"/>
              <a:t>                 </a:t>
            </a:r>
            <a:endParaRPr sz="2200"/>
          </a:p>
          <a:p>
            <a:pPr marL="685800" marR="0" lvl="0" indent="0" algn="l" rtl="0">
              <a:lnSpc>
                <a:spcPct val="90000"/>
              </a:lnSpc>
              <a:spcBef>
                <a:spcPts val="0"/>
              </a:spcBef>
              <a:spcAft>
                <a:spcPts val="0"/>
              </a:spcAft>
              <a:buNone/>
            </a:pPr>
            <a:r>
              <a:rPr lang="en-US" sz="2200"/>
              <a:t>                             Supplementary important indicators are necessary </a:t>
            </a:r>
            <a:endParaRPr sz="2200"/>
          </a:p>
          <a:p>
            <a:pPr marL="0" lvl="0" indent="0" algn="l" rtl="0">
              <a:lnSpc>
                <a:spcPct val="90000"/>
              </a:lnSpc>
              <a:spcBef>
                <a:spcPts val="0"/>
              </a:spcBef>
              <a:spcAft>
                <a:spcPts val="0"/>
              </a:spcAft>
              <a:buNone/>
            </a:pPr>
            <a:endParaRPr/>
          </a:p>
          <a:p>
            <a:pPr marL="0" lvl="0" indent="0" algn="l" rtl="0">
              <a:lnSpc>
                <a:spcPct val="90000"/>
              </a:lnSpc>
              <a:spcBef>
                <a:spcPts val="1000"/>
              </a:spcBef>
              <a:spcAft>
                <a:spcPts val="0"/>
              </a:spcAft>
              <a:buClr>
                <a:schemeClr val="dk1"/>
              </a:buClr>
              <a:buSzPts val="2400"/>
              <a:buNone/>
            </a:pPr>
            <a:r>
              <a:rPr lang="en-US"/>
              <a:t>   </a:t>
            </a:r>
            <a:endParaRPr b="1"/>
          </a:p>
          <a:p>
            <a:pPr marL="0" lvl="0" indent="0" algn="l" rtl="0">
              <a:lnSpc>
                <a:spcPct val="90000"/>
              </a:lnSpc>
              <a:spcBef>
                <a:spcPts val="1000"/>
              </a:spcBef>
              <a:spcAft>
                <a:spcPts val="0"/>
              </a:spcAft>
              <a:buClr>
                <a:schemeClr val="dk1"/>
              </a:buClr>
              <a:buSzPts val="2400"/>
              <a:buNone/>
            </a:pPr>
            <a:endParaRPr/>
          </a:p>
        </p:txBody>
      </p:sp>
      <p:sp>
        <p:nvSpPr>
          <p:cNvPr id="107" name="Google Shape;107;p14"/>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
        <p:nvSpPr>
          <p:cNvPr id="108" name="Google Shape;108;p14"/>
          <p:cNvSpPr/>
          <p:nvPr/>
        </p:nvSpPr>
        <p:spPr>
          <a:xfrm>
            <a:off x="4981725" y="4299275"/>
            <a:ext cx="863700" cy="1059900"/>
          </a:xfrm>
          <a:prstGeom prst="rightBrace">
            <a:avLst>
              <a:gd name="adj1" fmla="val 8333"/>
              <a:gd name="adj2" fmla="val 50000"/>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4"/>
          <p:cNvSpPr txBox="1"/>
          <p:nvPr/>
        </p:nvSpPr>
        <p:spPr>
          <a:xfrm>
            <a:off x="2505125" y="4394225"/>
            <a:ext cx="2191800" cy="1059900"/>
          </a:xfrm>
          <a:prstGeom prst="rect">
            <a:avLst/>
          </a:prstGeom>
          <a:noFill/>
          <a:ln>
            <a:noFill/>
          </a:ln>
        </p:spPr>
        <p:txBody>
          <a:bodyPr spcFirstLastPara="1" wrap="square" lIns="91425" tIns="91425" rIns="91425" bIns="91425" anchor="t" anchorCtr="0">
            <a:noAutofit/>
          </a:bodyPr>
          <a:lstStyle/>
          <a:p>
            <a:pPr marL="685800" marR="0" lvl="0" indent="0" algn="l" rtl="0">
              <a:lnSpc>
                <a:spcPct val="90000"/>
              </a:lnSpc>
              <a:spcBef>
                <a:spcPts val="0"/>
              </a:spcBef>
              <a:spcAft>
                <a:spcPts val="0"/>
              </a:spcAft>
              <a:buNone/>
            </a:pPr>
            <a:r>
              <a:rPr lang="en-US" sz="2200">
                <a:solidFill>
                  <a:schemeClr val="dk1"/>
                </a:solidFill>
                <a:latin typeface="Calibri"/>
                <a:ea typeface="Calibri"/>
                <a:cs typeface="Calibri"/>
                <a:sym typeface="Calibri"/>
              </a:rPr>
              <a:t>Three main indicators</a:t>
            </a:r>
            <a:endParaRPr sz="2200">
              <a:solidFill>
                <a:schemeClr val="dk1"/>
              </a:solidFill>
              <a:latin typeface="Calibri"/>
              <a:ea typeface="Calibri"/>
              <a:cs typeface="Calibri"/>
              <a:sym typeface="Calibri"/>
            </a:endParaRPr>
          </a:p>
        </p:txBody>
      </p:sp>
      <p:sp>
        <p:nvSpPr>
          <p:cNvPr id="110" name="Google Shape;110;p14"/>
          <p:cNvSpPr txBox="1"/>
          <p:nvPr/>
        </p:nvSpPr>
        <p:spPr>
          <a:xfrm>
            <a:off x="5982000" y="4299275"/>
            <a:ext cx="4776600" cy="10599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None/>
            </a:pPr>
            <a:r>
              <a:rPr lang="en-US" sz="2200">
                <a:solidFill>
                  <a:schemeClr val="dk1"/>
                </a:solidFill>
                <a:latin typeface="Calibri"/>
                <a:ea typeface="Calibri"/>
                <a:cs typeface="Calibri"/>
                <a:sym typeface="Calibri"/>
              </a:rPr>
              <a:t>Longevity</a:t>
            </a:r>
            <a:endParaRPr sz="22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2200">
                <a:solidFill>
                  <a:schemeClr val="dk1"/>
                </a:solidFill>
                <a:latin typeface="Calibri"/>
                <a:ea typeface="Calibri"/>
                <a:cs typeface="Calibri"/>
                <a:sym typeface="Calibri"/>
              </a:rPr>
              <a:t>Education or knowledge</a:t>
            </a:r>
            <a:endParaRPr sz="2200">
              <a:solidFill>
                <a:schemeClr val="dk1"/>
              </a:solidFill>
              <a:latin typeface="Calibri"/>
              <a:ea typeface="Calibri"/>
              <a:cs typeface="Calibri"/>
              <a:sym typeface="Calibri"/>
            </a:endParaRPr>
          </a:p>
          <a:p>
            <a:pPr marL="0" lvl="0" indent="0" algn="l" rtl="0">
              <a:lnSpc>
                <a:spcPct val="90000"/>
              </a:lnSpc>
              <a:spcBef>
                <a:spcPts val="0"/>
              </a:spcBef>
              <a:spcAft>
                <a:spcPts val="0"/>
              </a:spcAft>
              <a:buClr>
                <a:schemeClr val="dk1"/>
              </a:buClr>
              <a:buSzPts val="1100"/>
              <a:buFont typeface="Arial"/>
              <a:buNone/>
            </a:pPr>
            <a:r>
              <a:rPr lang="en-US" sz="2200">
                <a:solidFill>
                  <a:schemeClr val="dk1"/>
                </a:solidFill>
                <a:latin typeface="Calibri"/>
                <a:ea typeface="Calibri"/>
                <a:cs typeface="Calibri"/>
                <a:sym typeface="Calibri"/>
              </a:rPr>
              <a:t>Standard of living</a:t>
            </a:r>
            <a:endParaRPr sz="2200">
              <a:solidFill>
                <a:schemeClr val="dk1"/>
              </a:solidFill>
              <a:latin typeface="Calibri"/>
              <a:ea typeface="Calibri"/>
              <a:cs typeface="Calibri"/>
              <a:sym typeface="Calibri"/>
            </a:endParaRPr>
          </a:p>
        </p:txBody>
      </p:sp>
      <p:sp>
        <p:nvSpPr>
          <p:cNvPr id="111" name="Google Shape;111;p14"/>
          <p:cNvSpPr txBox="1"/>
          <p:nvPr/>
        </p:nvSpPr>
        <p:spPr>
          <a:xfrm>
            <a:off x="461325" y="5530325"/>
            <a:ext cx="2653200" cy="1059900"/>
          </a:xfrm>
          <a:prstGeom prst="rect">
            <a:avLst/>
          </a:prstGeom>
          <a:noFill/>
          <a:ln>
            <a:noFill/>
          </a:ln>
        </p:spPr>
        <p:txBody>
          <a:bodyPr spcFirstLastPara="1" wrap="square" lIns="91425" tIns="91425" rIns="91425" bIns="91425" anchor="t" anchorCtr="0">
            <a:noAutofit/>
          </a:bodyPr>
          <a:lstStyle/>
          <a:p>
            <a:pPr marL="685800" marR="0" lvl="0" indent="0" algn="l" rtl="0">
              <a:lnSpc>
                <a:spcPct val="90000"/>
              </a:lnSpc>
              <a:spcBef>
                <a:spcPts val="0"/>
              </a:spcBef>
              <a:spcAft>
                <a:spcPts val="0"/>
              </a:spcAft>
              <a:buNone/>
            </a:pPr>
            <a:r>
              <a:rPr lang="en-US" sz="2200">
                <a:solidFill>
                  <a:schemeClr val="dk1"/>
                </a:solidFill>
                <a:latin typeface="Calibri"/>
                <a:ea typeface="Calibri"/>
                <a:cs typeface="Calibri"/>
                <a:sym typeface="Calibri"/>
              </a:rPr>
              <a:t> Jahan, n.d.:</a:t>
            </a:r>
            <a:endParaRPr sz="2200">
              <a:solidFill>
                <a:schemeClr val="dk1"/>
              </a:solidFill>
              <a:latin typeface="Calibri"/>
              <a:ea typeface="Calibri"/>
              <a:cs typeface="Calibri"/>
              <a:sym typeface="Calibri"/>
            </a:endParaRPr>
          </a:p>
          <a:p>
            <a:pPr marL="685800" marR="0" lvl="0" indent="0" algn="l" rtl="0">
              <a:lnSpc>
                <a:spcPct val="90000"/>
              </a:lnSpc>
              <a:spcBef>
                <a:spcPts val="0"/>
              </a:spcBef>
              <a:spcAft>
                <a:spcPts val="0"/>
              </a:spcAft>
              <a:buNone/>
            </a:pPr>
            <a:endParaRPr sz="2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5"/>
          <p:cNvSpPr txBox="1">
            <a:spLocks noGrp="1"/>
          </p:cNvSpPr>
          <p:nvPr>
            <p:ph type="body" idx="1"/>
          </p:nvPr>
        </p:nvSpPr>
        <p:spPr>
          <a:xfrm>
            <a:off x="457675" y="997750"/>
            <a:ext cx="10286400" cy="55161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Clr>
                <a:schemeClr val="dk1"/>
              </a:buClr>
              <a:buSzPts val="2400"/>
              <a:buFont typeface="Arial"/>
              <a:buNone/>
            </a:pPr>
            <a:r>
              <a:rPr lang="en-US" b="1"/>
              <a:t>Objective:</a:t>
            </a:r>
            <a:endParaRPr b="1"/>
          </a:p>
          <a:p>
            <a:pPr marL="457200" lvl="0" indent="-368300" algn="l" rtl="0">
              <a:spcBef>
                <a:spcPts val="1000"/>
              </a:spcBef>
              <a:spcAft>
                <a:spcPts val="0"/>
              </a:spcAft>
              <a:buSzPts val="2200"/>
              <a:buChar char="•"/>
            </a:pPr>
            <a:r>
              <a:rPr lang="en-US" sz="2200"/>
              <a:t>Find out which additional variables are important in explaining the HDI </a:t>
            </a:r>
            <a:endParaRPr sz="2200"/>
          </a:p>
          <a:p>
            <a:pPr marL="0" lvl="0" indent="0" algn="l" rtl="0">
              <a:spcBef>
                <a:spcPts val="1000"/>
              </a:spcBef>
              <a:spcAft>
                <a:spcPts val="0"/>
              </a:spcAft>
              <a:buClr>
                <a:schemeClr val="dk1"/>
              </a:buClr>
              <a:buSzPts val="2400"/>
              <a:buFont typeface="Arial"/>
              <a:buNone/>
            </a:pPr>
            <a:endParaRPr sz="2200"/>
          </a:p>
          <a:p>
            <a:pPr marL="0" lvl="0" indent="0" algn="l" rtl="0">
              <a:spcBef>
                <a:spcPts val="1000"/>
              </a:spcBef>
              <a:spcAft>
                <a:spcPts val="0"/>
              </a:spcAft>
              <a:buClr>
                <a:schemeClr val="dk1"/>
              </a:buClr>
              <a:buSzPts val="2400"/>
              <a:buFont typeface="Arial"/>
              <a:buNone/>
            </a:pPr>
            <a:r>
              <a:rPr lang="en-US" b="1"/>
              <a:t>Usefulness: </a:t>
            </a:r>
            <a:endParaRPr sz="2200" b="1"/>
          </a:p>
          <a:p>
            <a:pPr marL="457200" lvl="0" indent="-368300" algn="l" rtl="0">
              <a:spcBef>
                <a:spcPts val="1000"/>
              </a:spcBef>
              <a:spcAft>
                <a:spcPts val="0"/>
              </a:spcAft>
              <a:buSzPts val="2200"/>
              <a:buChar char="•"/>
            </a:pPr>
            <a:r>
              <a:rPr lang="en-US" sz="2200"/>
              <a:t>Help non profit organizations to fund and support the most important causes </a:t>
            </a:r>
            <a:endParaRPr sz="2200"/>
          </a:p>
          <a:p>
            <a:pPr marL="457200" lvl="0" indent="-368300" algn="l" rtl="0">
              <a:spcBef>
                <a:spcPts val="0"/>
              </a:spcBef>
              <a:spcAft>
                <a:spcPts val="0"/>
              </a:spcAft>
              <a:buSzPts val="2200"/>
              <a:buChar char="•"/>
            </a:pPr>
            <a:r>
              <a:rPr lang="en-US" sz="2200"/>
              <a:t>Aid undeveloped countries to improve their human development index </a:t>
            </a:r>
            <a:endParaRPr sz="1100">
              <a:latin typeface="Arial"/>
              <a:ea typeface="Arial"/>
              <a:cs typeface="Arial"/>
              <a:sym typeface="Arial"/>
            </a:endParaRPr>
          </a:p>
          <a:p>
            <a:pPr marL="0" lvl="0" indent="0" algn="l" rtl="0">
              <a:spcBef>
                <a:spcPts val="1000"/>
              </a:spcBef>
              <a:spcAft>
                <a:spcPts val="0"/>
              </a:spcAft>
              <a:buClr>
                <a:schemeClr val="dk1"/>
              </a:buClr>
              <a:buSzPts val="2400"/>
              <a:buFont typeface="Arial"/>
              <a:buNone/>
            </a:pPr>
            <a:endParaRPr/>
          </a:p>
          <a:p>
            <a:pPr marL="0" lvl="0" indent="0" algn="l" rtl="0">
              <a:spcBef>
                <a:spcPts val="1000"/>
              </a:spcBef>
              <a:spcAft>
                <a:spcPts val="0"/>
              </a:spcAft>
              <a:buClr>
                <a:schemeClr val="dk1"/>
              </a:buClr>
              <a:buSzPts val="2400"/>
              <a:buFont typeface="Arial"/>
              <a:buNone/>
            </a:pPr>
            <a:r>
              <a:rPr lang="en-US" b="1"/>
              <a:t>Tools used for data analysis:</a:t>
            </a:r>
            <a:endParaRPr/>
          </a:p>
          <a:p>
            <a:pPr marL="457200" lvl="0" indent="-342900" algn="l" rtl="0">
              <a:spcBef>
                <a:spcPts val="1000"/>
              </a:spcBef>
              <a:spcAft>
                <a:spcPts val="0"/>
              </a:spcAft>
              <a:buSzPts val="1800"/>
              <a:buChar char="•"/>
            </a:pPr>
            <a:r>
              <a:rPr lang="en-US"/>
              <a:t>Cluster Analysis</a:t>
            </a:r>
            <a:endParaRPr/>
          </a:p>
          <a:p>
            <a:pPr marL="457200" lvl="0" indent="-342900" algn="l" rtl="0">
              <a:spcBef>
                <a:spcPts val="0"/>
              </a:spcBef>
              <a:spcAft>
                <a:spcPts val="0"/>
              </a:spcAft>
              <a:buSzPts val="1800"/>
              <a:buChar char="•"/>
            </a:pPr>
            <a:r>
              <a:rPr lang="en-US"/>
              <a:t>Linear Regression</a:t>
            </a:r>
            <a:endParaRPr/>
          </a:p>
          <a:p>
            <a:pPr marL="457200" lvl="0" indent="-342900" algn="l" rtl="0">
              <a:spcBef>
                <a:spcPts val="0"/>
              </a:spcBef>
              <a:spcAft>
                <a:spcPts val="0"/>
              </a:spcAft>
              <a:buSzPts val="1800"/>
              <a:buChar char="•"/>
            </a:pPr>
            <a:r>
              <a:rPr lang="en-US"/>
              <a:t>Regression Tree   </a:t>
            </a:r>
            <a:endParaRPr/>
          </a:p>
        </p:txBody>
      </p:sp>
      <p:sp>
        <p:nvSpPr>
          <p:cNvPr id="118" name="Google Shape;118;p15"/>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3</a:t>
            </a:fld>
            <a:endParaRPr/>
          </a:p>
        </p:txBody>
      </p:sp>
      <p:sp>
        <p:nvSpPr>
          <p:cNvPr id="119" name="Google Shape;119;p15"/>
          <p:cNvSpPr txBox="1">
            <a:spLocks noGrp="1"/>
          </p:cNvSpPr>
          <p:nvPr>
            <p:ph type="title"/>
          </p:nvPr>
        </p:nvSpPr>
        <p:spPr>
          <a:xfrm>
            <a:off x="390469" y="163075"/>
            <a:ext cx="10420800" cy="1059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853E"/>
              </a:buClr>
              <a:buSzPts val="3600"/>
              <a:buFont typeface="Calibri"/>
              <a:buNone/>
            </a:pPr>
            <a:r>
              <a:rPr lang="en-US"/>
              <a:t>Project Introduction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6"/>
          <p:cNvSpPr txBox="1">
            <a:spLocks noGrp="1"/>
          </p:cNvSpPr>
          <p:nvPr>
            <p:ph type="title"/>
          </p:nvPr>
        </p:nvSpPr>
        <p:spPr>
          <a:xfrm>
            <a:off x="423344" y="0"/>
            <a:ext cx="10420800" cy="1059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853E"/>
              </a:buClr>
              <a:buSzPts val="3600"/>
              <a:buFont typeface="Calibri"/>
              <a:buNone/>
            </a:pPr>
            <a:r>
              <a:rPr lang="en-US"/>
              <a:t>Data Sampling</a:t>
            </a:r>
            <a:endParaRPr/>
          </a:p>
        </p:txBody>
      </p:sp>
      <p:sp>
        <p:nvSpPr>
          <p:cNvPr id="125" name="Google Shape;125;p16"/>
          <p:cNvSpPr txBox="1">
            <a:spLocks noGrp="1"/>
          </p:cNvSpPr>
          <p:nvPr>
            <p:ph type="body" idx="1"/>
          </p:nvPr>
        </p:nvSpPr>
        <p:spPr>
          <a:xfrm>
            <a:off x="597825" y="828575"/>
            <a:ext cx="10246200" cy="5646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None/>
            </a:pPr>
            <a:r>
              <a:rPr lang="en-US" sz="2200" b="1"/>
              <a:t>Data Source: WordBank Database</a:t>
            </a:r>
            <a:endParaRPr sz="2200" b="1"/>
          </a:p>
          <a:p>
            <a:pPr marL="0" lvl="0" indent="0" algn="l" rtl="0">
              <a:lnSpc>
                <a:spcPct val="90000"/>
              </a:lnSpc>
              <a:spcBef>
                <a:spcPts val="1000"/>
              </a:spcBef>
              <a:spcAft>
                <a:spcPts val="0"/>
              </a:spcAft>
              <a:buNone/>
            </a:pPr>
            <a:r>
              <a:rPr lang="en-US" sz="2200" b="1"/>
              <a:t>Data composition</a:t>
            </a:r>
            <a:r>
              <a:rPr lang="en-US" sz="2200"/>
              <a:t>    </a:t>
            </a:r>
            <a:endParaRPr sz="2200"/>
          </a:p>
          <a:p>
            <a:pPr marL="685800" lvl="0" indent="228600" algn="l" rtl="0">
              <a:lnSpc>
                <a:spcPct val="90000"/>
              </a:lnSpc>
              <a:spcBef>
                <a:spcPts val="1000"/>
              </a:spcBef>
              <a:spcAft>
                <a:spcPts val="0"/>
              </a:spcAft>
              <a:buNone/>
            </a:pPr>
            <a:r>
              <a:rPr lang="en-US" sz="2200"/>
              <a:t>168 Countries </a:t>
            </a:r>
            <a:endParaRPr sz="2200"/>
          </a:p>
          <a:p>
            <a:pPr marL="685800" lvl="0" indent="228600" algn="l" rtl="0">
              <a:lnSpc>
                <a:spcPct val="90000"/>
              </a:lnSpc>
              <a:spcBef>
                <a:spcPts val="1000"/>
              </a:spcBef>
              <a:spcAft>
                <a:spcPts val="0"/>
              </a:spcAft>
              <a:buNone/>
            </a:pPr>
            <a:r>
              <a:rPr lang="en-US" sz="2200"/>
              <a:t>5 years 	→ 2013-2017      </a:t>
            </a:r>
            <a:endParaRPr sz="2200"/>
          </a:p>
          <a:p>
            <a:pPr marL="685800" lvl="0" indent="228600" algn="l" rtl="0">
              <a:lnSpc>
                <a:spcPct val="90000"/>
              </a:lnSpc>
              <a:spcBef>
                <a:spcPts val="1000"/>
              </a:spcBef>
              <a:spcAft>
                <a:spcPts val="0"/>
              </a:spcAft>
              <a:buNone/>
            </a:pPr>
            <a:r>
              <a:rPr lang="en-US" sz="2200"/>
              <a:t>840 observations</a:t>
            </a:r>
            <a:endParaRPr sz="2200"/>
          </a:p>
          <a:p>
            <a:pPr marL="1600200" lvl="0" indent="228600" algn="l" rtl="0">
              <a:spcBef>
                <a:spcPts val="1000"/>
              </a:spcBef>
              <a:spcAft>
                <a:spcPts val="0"/>
              </a:spcAft>
              <a:buClr>
                <a:schemeClr val="dk1"/>
              </a:buClr>
              <a:buSzPts val="1100"/>
              <a:buFont typeface="Arial"/>
              <a:buNone/>
            </a:pPr>
            <a:endParaRPr sz="2200"/>
          </a:p>
          <a:p>
            <a:pPr marL="228600" lvl="0" indent="0" algn="l" rtl="0">
              <a:spcBef>
                <a:spcPts val="1000"/>
              </a:spcBef>
              <a:spcAft>
                <a:spcPts val="0"/>
              </a:spcAft>
              <a:buClr>
                <a:schemeClr val="dk1"/>
              </a:buClr>
              <a:buSzPts val="1100"/>
              <a:buFont typeface="Arial"/>
              <a:buNone/>
            </a:pPr>
            <a:r>
              <a:rPr lang="en-US" sz="2200"/>
              <a:t>        27 variables were included</a:t>
            </a:r>
            <a:endParaRPr sz="2200"/>
          </a:p>
          <a:p>
            <a:pPr marL="0" lvl="0" indent="0" algn="l" rtl="0">
              <a:lnSpc>
                <a:spcPct val="90000"/>
              </a:lnSpc>
              <a:spcBef>
                <a:spcPts val="1000"/>
              </a:spcBef>
              <a:spcAft>
                <a:spcPts val="0"/>
              </a:spcAft>
              <a:buNone/>
            </a:pPr>
            <a:endParaRPr sz="2200" b="1"/>
          </a:p>
          <a:p>
            <a:pPr marL="0" lvl="0" indent="0" algn="l" rtl="0">
              <a:lnSpc>
                <a:spcPct val="90000"/>
              </a:lnSpc>
              <a:spcBef>
                <a:spcPts val="1000"/>
              </a:spcBef>
              <a:spcAft>
                <a:spcPts val="0"/>
              </a:spcAft>
              <a:buNone/>
            </a:pPr>
            <a:r>
              <a:rPr lang="en-US" sz="2200" b="1"/>
              <a:t>Manual Data Selection: </a:t>
            </a:r>
            <a:endParaRPr sz="2200" b="1"/>
          </a:p>
          <a:p>
            <a:pPr marL="228600" lvl="0" indent="228600" algn="l" rtl="0">
              <a:lnSpc>
                <a:spcPct val="90000"/>
              </a:lnSpc>
              <a:spcBef>
                <a:spcPts val="1000"/>
              </a:spcBef>
              <a:spcAft>
                <a:spcPts val="0"/>
              </a:spcAft>
              <a:buNone/>
            </a:pPr>
            <a:r>
              <a:rPr lang="en-US" sz="2200"/>
              <a:t> 			Unrelated data </a:t>
            </a:r>
            <a:endParaRPr sz="2200"/>
          </a:p>
          <a:p>
            <a:pPr marL="0" lvl="0" indent="0" algn="l" rtl="0">
              <a:lnSpc>
                <a:spcPct val="90000"/>
              </a:lnSpc>
              <a:spcBef>
                <a:spcPts val="1000"/>
              </a:spcBef>
              <a:spcAft>
                <a:spcPts val="0"/>
              </a:spcAft>
              <a:buNone/>
            </a:pPr>
            <a:r>
              <a:rPr lang="en-US" sz="2200"/>
              <a:t>   Drop			Redundant regional data</a:t>
            </a:r>
            <a:endParaRPr sz="2200"/>
          </a:p>
          <a:p>
            <a:pPr marL="1600200" lvl="0" indent="228600" algn="l" rtl="0">
              <a:lnSpc>
                <a:spcPct val="90000"/>
              </a:lnSpc>
              <a:spcBef>
                <a:spcPts val="1000"/>
              </a:spcBef>
              <a:spcAft>
                <a:spcPts val="0"/>
              </a:spcAft>
              <a:buNone/>
            </a:pPr>
            <a:r>
              <a:rPr lang="en-US" sz="2200"/>
              <a:t>Countries with unavailable HDI</a:t>
            </a:r>
            <a:endParaRPr sz="2200"/>
          </a:p>
          <a:p>
            <a:pPr marL="228600" lvl="0" indent="0" algn="l" rtl="0">
              <a:spcBef>
                <a:spcPts val="1000"/>
              </a:spcBef>
              <a:spcAft>
                <a:spcPts val="0"/>
              </a:spcAft>
              <a:buClr>
                <a:schemeClr val="dk1"/>
              </a:buClr>
              <a:buSzPts val="1100"/>
              <a:buFont typeface="Arial"/>
              <a:buNone/>
            </a:pPr>
            <a:endParaRPr sz="2200"/>
          </a:p>
        </p:txBody>
      </p:sp>
      <p:sp>
        <p:nvSpPr>
          <p:cNvPr id="126" name="Google Shape;126;p16"/>
          <p:cNvSpPr txBox="1">
            <a:spLocks noGrp="1"/>
          </p:cNvSpPr>
          <p:nvPr>
            <p:ph type="sldNum" idx="12"/>
          </p:nvPr>
        </p:nvSpPr>
        <p:spPr>
          <a:xfrm>
            <a:off x="11334283" y="6356350"/>
            <a:ext cx="471616"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
        <p:nvSpPr>
          <p:cNvPr id="127" name="Google Shape;127;p16"/>
          <p:cNvSpPr/>
          <p:nvPr/>
        </p:nvSpPr>
        <p:spPr>
          <a:xfrm>
            <a:off x="1070825" y="2372350"/>
            <a:ext cx="381000" cy="365100"/>
          </a:xfrm>
          <a:prstGeom prst="mathMultiply">
            <a:avLst>
              <a:gd name="adj1" fmla="val 2352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8" name="Google Shape;128;p16"/>
          <p:cNvCxnSpPr/>
          <p:nvPr/>
        </p:nvCxnSpPr>
        <p:spPr>
          <a:xfrm rot="10800000" flipH="1">
            <a:off x="1560575" y="2726638"/>
            <a:ext cx="2465400" cy="10800"/>
          </a:xfrm>
          <a:prstGeom prst="straightConnector1">
            <a:avLst/>
          </a:prstGeom>
          <a:noFill/>
          <a:ln w="28575" cap="flat" cmpd="sng">
            <a:solidFill>
              <a:srgbClr val="4A86E8"/>
            </a:solidFill>
            <a:prstDash val="solid"/>
            <a:round/>
            <a:headEnd type="none" w="med" len="med"/>
            <a:tailEnd type="none" w="med" len="med"/>
          </a:ln>
        </p:spPr>
      </p:cxnSp>
      <p:pic>
        <p:nvPicPr>
          <p:cNvPr id="129" name="Google Shape;129;p16"/>
          <p:cNvPicPr preferRelativeResize="0"/>
          <p:nvPr/>
        </p:nvPicPr>
        <p:blipFill>
          <a:blip r:embed="rId3">
            <a:alphaModFix/>
          </a:blip>
          <a:stretch>
            <a:fillRect/>
          </a:stretch>
        </p:blipFill>
        <p:spPr>
          <a:xfrm>
            <a:off x="5347850" y="954262"/>
            <a:ext cx="5339651" cy="4106575"/>
          </a:xfrm>
          <a:prstGeom prst="rect">
            <a:avLst/>
          </a:prstGeom>
          <a:noFill/>
          <a:ln w="9525" cap="flat" cmpd="sng">
            <a:solidFill>
              <a:schemeClr val="dk2"/>
            </a:solidFill>
            <a:prstDash val="solid"/>
            <a:round/>
            <a:headEnd type="none" w="sm" len="sm"/>
            <a:tailEnd type="none" w="sm" len="sm"/>
          </a:ln>
        </p:spPr>
      </p:pic>
      <p:sp>
        <p:nvSpPr>
          <p:cNvPr id="130" name="Google Shape;130;p16"/>
          <p:cNvSpPr/>
          <p:nvPr/>
        </p:nvSpPr>
        <p:spPr>
          <a:xfrm>
            <a:off x="6449475" y="4521200"/>
            <a:ext cx="2698800" cy="1524000"/>
          </a:xfrm>
          <a:prstGeom prst="bentUpArrow">
            <a:avLst>
              <a:gd name="adj1" fmla="val 3930"/>
              <a:gd name="adj2" fmla="val 6371"/>
              <a:gd name="adj3" fmla="val 25000"/>
            </a:avLst>
          </a:prstGeom>
          <a:solidFill>
            <a:srgbClr val="4A86E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6"/>
          <p:cNvSpPr/>
          <p:nvPr/>
        </p:nvSpPr>
        <p:spPr>
          <a:xfrm>
            <a:off x="1671900" y="4875000"/>
            <a:ext cx="694200" cy="1268400"/>
          </a:xfrm>
          <a:prstGeom prst="leftBrace">
            <a:avLst>
              <a:gd name="adj1" fmla="val 8333"/>
              <a:gd name="adj2" fmla="val 50000"/>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6"/>
          <p:cNvSpPr/>
          <p:nvPr/>
        </p:nvSpPr>
        <p:spPr>
          <a:xfrm>
            <a:off x="1070825" y="3429000"/>
            <a:ext cx="3733800" cy="603900"/>
          </a:xfrm>
          <a:prstGeom prst="rect">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7"/>
          <p:cNvSpPr txBox="1">
            <a:spLocks noGrp="1"/>
          </p:cNvSpPr>
          <p:nvPr>
            <p:ph type="title"/>
          </p:nvPr>
        </p:nvSpPr>
        <p:spPr>
          <a:xfrm>
            <a:off x="457669" y="122675"/>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Variables</a:t>
            </a:r>
            <a:endParaRPr/>
          </a:p>
        </p:txBody>
      </p:sp>
      <p:sp>
        <p:nvSpPr>
          <p:cNvPr id="139" name="Google Shape;139;p17"/>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5</a:t>
            </a:fld>
            <a:endParaRPr/>
          </a:p>
        </p:txBody>
      </p:sp>
      <p:graphicFrame>
        <p:nvGraphicFramePr>
          <p:cNvPr id="140" name="Google Shape;140;p17"/>
          <p:cNvGraphicFramePr/>
          <p:nvPr/>
        </p:nvGraphicFramePr>
        <p:xfrm>
          <a:off x="836975" y="1030713"/>
          <a:ext cx="4685575" cy="4905450"/>
        </p:xfrm>
        <a:graphic>
          <a:graphicData uri="http://schemas.openxmlformats.org/drawingml/2006/table">
            <a:tbl>
              <a:tblPr>
                <a:noFill/>
                <a:tableStyleId>{8EF43105-30C4-4979-AD7D-935C66147BA0}</a:tableStyleId>
              </a:tblPr>
              <a:tblGrid>
                <a:gridCol w="3886150">
                  <a:extLst>
                    <a:ext uri="{9D8B030D-6E8A-4147-A177-3AD203B41FA5}">
                      <a16:colId xmlns:a16="http://schemas.microsoft.com/office/drawing/2014/main" val="20000"/>
                    </a:ext>
                  </a:extLst>
                </a:gridCol>
                <a:gridCol w="799425">
                  <a:extLst>
                    <a:ext uri="{9D8B030D-6E8A-4147-A177-3AD203B41FA5}">
                      <a16:colId xmlns:a16="http://schemas.microsoft.com/office/drawing/2014/main" val="20001"/>
                    </a:ext>
                  </a:extLst>
                </a:gridCol>
              </a:tblGrid>
              <a:tr h="325475">
                <a:tc>
                  <a:txBody>
                    <a:bodyPr/>
                    <a:lstStyle/>
                    <a:p>
                      <a:pPr marL="0" lvl="0" indent="0" algn="ctr" rtl="0">
                        <a:spcBef>
                          <a:spcPts val="0"/>
                        </a:spcBef>
                        <a:spcAft>
                          <a:spcPts val="0"/>
                        </a:spcAft>
                        <a:buNone/>
                      </a:pPr>
                      <a:r>
                        <a:rPr lang="en-US" sz="1200" b="1"/>
                        <a:t>Variable</a:t>
                      </a:r>
                      <a:endParaRPr sz="1200" b="1"/>
                    </a:p>
                  </a:txBody>
                  <a:tcPr marL="63500" marR="63500" marT="63500" marB="63500"/>
                </a:tc>
                <a:tc>
                  <a:txBody>
                    <a:bodyPr/>
                    <a:lstStyle/>
                    <a:p>
                      <a:pPr marL="0" lvl="0" indent="0" algn="ctr" rtl="0">
                        <a:spcBef>
                          <a:spcPts val="0"/>
                        </a:spcBef>
                        <a:spcAft>
                          <a:spcPts val="0"/>
                        </a:spcAft>
                        <a:buNone/>
                      </a:pPr>
                      <a:r>
                        <a:rPr lang="en-US" sz="1200" b="1"/>
                        <a:t>Type</a:t>
                      </a:r>
                      <a:endParaRPr sz="1200" b="1"/>
                    </a:p>
                  </a:txBody>
                  <a:tcPr marL="63500" marR="63500" marT="63500" marB="63500"/>
                </a:tc>
                <a:extLst>
                  <a:ext uri="{0D108BD9-81ED-4DB2-BD59-A6C34878D82A}">
                    <a16:rowId xmlns:a16="http://schemas.microsoft.com/office/drawing/2014/main" val="10000"/>
                  </a:ext>
                </a:extLst>
              </a:tr>
              <a:tr h="319625">
                <a:tc>
                  <a:txBody>
                    <a:bodyPr/>
                    <a:lstStyle/>
                    <a:p>
                      <a:pPr marL="0" lvl="0" indent="0" algn="l" rtl="0">
                        <a:spcBef>
                          <a:spcPts val="0"/>
                        </a:spcBef>
                        <a:spcAft>
                          <a:spcPts val="0"/>
                        </a:spcAft>
                        <a:buNone/>
                      </a:pPr>
                      <a:r>
                        <a:rPr lang="en-US" sz="1200"/>
                        <a:t>ID: Country/Year</a:t>
                      </a:r>
                      <a:endParaRPr sz="1200"/>
                    </a:p>
                  </a:txBody>
                  <a:tcPr marL="63500" marR="63500" marT="63500" marB="63500"/>
                </a:tc>
                <a:tc>
                  <a:txBody>
                    <a:bodyPr/>
                    <a:lstStyle/>
                    <a:p>
                      <a:pPr marL="0" lvl="0" indent="0" algn="l" rtl="0">
                        <a:spcBef>
                          <a:spcPts val="0"/>
                        </a:spcBef>
                        <a:spcAft>
                          <a:spcPts val="0"/>
                        </a:spcAft>
                        <a:buNone/>
                      </a:pPr>
                      <a:r>
                        <a:rPr lang="en-US" sz="1200"/>
                        <a:t>Identifier</a:t>
                      </a:r>
                      <a:endParaRPr sz="1200"/>
                    </a:p>
                  </a:txBody>
                  <a:tcPr marL="63500" marR="63500" marT="63500" marB="63500"/>
                </a:tc>
                <a:extLst>
                  <a:ext uri="{0D108BD9-81ED-4DB2-BD59-A6C34878D82A}">
                    <a16:rowId xmlns:a16="http://schemas.microsoft.com/office/drawing/2014/main" val="10001"/>
                  </a:ext>
                </a:extLst>
              </a:tr>
              <a:tr h="319625">
                <a:tc>
                  <a:txBody>
                    <a:bodyPr/>
                    <a:lstStyle/>
                    <a:p>
                      <a:pPr marL="0" lvl="0" indent="0" algn="l" rtl="0">
                        <a:spcBef>
                          <a:spcPts val="0"/>
                        </a:spcBef>
                        <a:spcAft>
                          <a:spcPts val="0"/>
                        </a:spcAft>
                        <a:buNone/>
                      </a:pPr>
                      <a:r>
                        <a:rPr lang="en-US" sz="1200">
                          <a:highlight>
                            <a:srgbClr val="FFFFFF"/>
                          </a:highlight>
                        </a:rPr>
                        <a:t>Access to electricity (% of population)</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2"/>
                  </a:ext>
                </a:extLst>
              </a:tr>
              <a:tr h="507450">
                <a:tc>
                  <a:txBody>
                    <a:bodyPr/>
                    <a:lstStyle/>
                    <a:p>
                      <a:pPr marL="0" lvl="0" indent="0" algn="l" rtl="0">
                        <a:spcBef>
                          <a:spcPts val="0"/>
                        </a:spcBef>
                        <a:spcAft>
                          <a:spcPts val="0"/>
                        </a:spcAft>
                        <a:buNone/>
                      </a:pPr>
                      <a:r>
                        <a:rPr lang="en-US" sz="1200">
                          <a:highlight>
                            <a:srgbClr val="FFFFFF"/>
                          </a:highlight>
                        </a:rPr>
                        <a:t>Access to clean fuels and technologies for cooking </a:t>
                      </a:r>
                      <a:endParaRPr sz="1200">
                        <a:highlight>
                          <a:srgbClr val="FFFFFF"/>
                        </a:highlight>
                      </a:endParaRPr>
                    </a:p>
                    <a:p>
                      <a:pPr marL="0" lvl="0" indent="0" algn="l" rtl="0">
                        <a:spcBef>
                          <a:spcPts val="0"/>
                        </a:spcBef>
                        <a:spcAft>
                          <a:spcPts val="0"/>
                        </a:spcAft>
                        <a:buNone/>
                      </a:pPr>
                      <a:r>
                        <a:rPr lang="en-US" sz="1200">
                          <a:highlight>
                            <a:srgbClr val="FFFFFF"/>
                          </a:highlight>
                        </a:rPr>
                        <a:t>(% of population)</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3"/>
                  </a:ext>
                </a:extLst>
              </a:tr>
              <a:tr h="507450">
                <a:tc>
                  <a:txBody>
                    <a:bodyPr/>
                    <a:lstStyle/>
                    <a:p>
                      <a:pPr marL="0" lvl="0" indent="0" algn="l" rtl="0">
                        <a:spcBef>
                          <a:spcPts val="0"/>
                        </a:spcBef>
                        <a:spcAft>
                          <a:spcPts val="0"/>
                        </a:spcAft>
                        <a:buNone/>
                      </a:pPr>
                      <a:r>
                        <a:rPr lang="en-US" sz="1200">
                          <a:highlight>
                            <a:srgbClr val="FFFFFF"/>
                          </a:highlight>
                        </a:rPr>
                        <a:t>Age dependency ratio, young (% of working-age population)</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4"/>
                  </a:ext>
                </a:extLst>
              </a:tr>
              <a:tr h="319625">
                <a:tc>
                  <a:txBody>
                    <a:bodyPr/>
                    <a:lstStyle/>
                    <a:p>
                      <a:pPr marL="0" lvl="0" indent="0" algn="l" rtl="0">
                        <a:spcBef>
                          <a:spcPts val="0"/>
                        </a:spcBef>
                        <a:spcAft>
                          <a:spcPts val="0"/>
                        </a:spcAft>
                        <a:buNone/>
                      </a:pPr>
                      <a:r>
                        <a:rPr lang="en-US" sz="1200">
                          <a:highlight>
                            <a:srgbClr val="FFFFFF"/>
                          </a:highlight>
                        </a:rPr>
                        <a:t>Population growth (annual %)</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5"/>
                  </a:ext>
                </a:extLst>
              </a:tr>
              <a:tr h="319625">
                <a:tc>
                  <a:txBody>
                    <a:bodyPr/>
                    <a:lstStyle/>
                    <a:p>
                      <a:pPr marL="0" lvl="0" indent="0" algn="l" rtl="0">
                        <a:spcBef>
                          <a:spcPts val="0"/>
                        </a:spcBef>
                        <a:spcAft>
                          <a:spcPts val="0"/>
                        </a:spcAft>
                        <a:buNone/>
                      </a:pPr>
                      <a:r>
                        <a:rPr lang="en-US" sz="1200">
                          <a:highlight>
                            <a:srgbClr val="FFFFFF"/>
                          </a:highlight>
                        </a:rPr>
                        <a:t>Current health expenditure (% of GDP)</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6"/>
                  </a:ext>
                </a:extLst>
              </a:tr>
              <a:tr h="319625">
                <a:tc>
                  <a:txBody>
                    <a:bodyPr/>
                    <a:lstStyle/>
                    <a:p>
                      <a:pPr marL="0" lvl="0" indent="0" algn="l" rtl="0">
                        <a:spcBef>
                          <a:spcPts val="0"/>
                        </a:spcBef>
                        <a:spcAft>
                          <a:spcPts val="0"/>
                        </a:spcAft>
                        <a:buNone/>
                      </a:pPr>
                      <a:r>
                        <a:rPr lang="en-US" sz="1200">
                          <a:highlight>
                            <a:srgbClr val="FFFFFF"/>
                          </a:highlight>
                        </a:rPr>
                        <a:t>Death rate, crude (per 1,000 people)</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7"/>
                  </a:ext>
                </a:extLst>
              </a:tr>
              <a:tr h="349300">
                <a:tc>
                  <a:txBody>
                    <a:bodyPr/>
                    <a:lstStyle/>
                    <a:p>
                      <a:pPr marL="0" lvl="0" indent="0" algn="l" rtl="0">
                        <a:lnSpc>
                          <a:spcPct val="115000"/>
                        </a:lnSpc>
                        <a:spcBef>
                          <a:spcPts val="0"/>
                        </a:spcBef>
                        <a:spcAft>
                          <a:spcPts val="0"/>
                        </a:spcAft>
                        <a:buNone/>
                      </a:pPr>
                      <a:r>
                        <a:rPr lang="en-US" sz="1200">
                          <a:highlight>
                            <a:srgbClr val="FFFFFF"/>
                          </a:highlight>
                        </a:rPr>
                        <a:t>Employers, total (% of total employment) </a:t>
                      </a:r>
                      <a:endParaRPr sz="1200">
                        <a:solidFill>
                          <a:srgbClr val="0000FF"/>
                        </a:solidFill>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8"/>
                  </a:ext>
                </a:extLst>
              </a:tr>
              <a:tr h="319625">
                <a:tc>
                  <a:txBody>
                    <a:bodyPr/>
                    <a:lstStyle/>
                    <a:p>
                      <a:pPr marL="0" lvl="0" indent="0" algn="l" rtl="0">
                        <a:spcBef>
                          <a:spcPts val="0"/>
                        </a:spcBef>
                        <a:spcAft>
                          <a:spcPts val="0"/>
                        </a:spcAft>
                        <a:buNone/>
                      </a:pPr>
                      <a:r>
                        <a:rPr lang="en-US" sz="1200">
                          <a:highlight>
                            <a:srgbClr val="FFFFFF"/>
                          </a:highlight>
                        </a:rPr>
                        <a:t>Employers, female (% of female employment) </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9"/>
                  </a:ext>
                </a:extLst>
              </a:tr>
              <a:tr h="319625">
                <a:tc>
                  <a:txBody>
                    <a:bodyPr/>
                    <a:lstStyle/>
                    <a:p>
                      <a:pPr marL="0" lvl="0" indent="0" algn="l" rtl="0">
                        <a:spcBef>
                          <a:spcPts val="0"/>
                        </a:spcBef>
                        <a:spcAft>
                          <a:spcPts val="0"/>
                        </a:spcAft>
                        <a:buNone/>
                      </a:pPr>
                      <a:r>
                        <a:rPr lang="en-US" sz="1200">
                          <a:highlight>
                            <a:srgbClr val="FFFFFF"/>
                          </a:highlight>
                        </a:rPr>
                        <a:t>Urban population (% of total population)</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10"/>
                  </a:ext>
                </a:extLst>
              </a:tr>
              <a:tr h="319625">
                <a:tc>
                  <a:txBody>
                    <a:bodyPr/>
                    <a:lstStyle/>
                    <a:p>
                      <a:pPr marL="0" lvl="0" indent="0" algn="l" rtl="0">
                        <a:spcBef>
                          <a:spcPts val="0"/>
                        </a:spcBef>
                        <a:spcAft>
                          <a:spcPts val="0"/>
                        </a:spcAft>
                        <a:buNone/>
                      </a:pPr>
                      <a:r>
                        <a:rPr lang="en-US" sz="1200">
                          <a:highlight>
                            <a:srgbClr val="FFFFFF"/>
                          </a:highlight>
                        </a:rPr>
                        <a:t>Trade (% of GDP)</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11"/>
                  </a:ext>
                </a:extLst>
              </a:tr>
              <a:tr h="319625">
                <a:tc>
                  <a:txBody>
                    <a:bodyPr/>
                    <a:lstStyle/>
                    <a:p>
                      <a:pPr marL="0" lvl="0" indent="0" algn="l" rtl="0">
                        <a:spcBef>
                          <a:spcPts val="0"/>
                        </a:spcBef>
                        <a:spcAft>
                          <a:spcPts val="0"/>
                        </a:spcAft>
                        <a:buNone/>
                      </a:pPr>
                      <a:r>
                        <a:rPr lang="en-US" sz="1200">
                          <a:highlight>
                            <a:srgbClr val="FFFFFF"/>
                          </a:highlight>
                        </a:rPr>
                        <a:t>Time required to start a business (days)</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12"/>
                  </a:ext>
                </a:extLst>
              </a:tr>
              <a:tr h="339150">
                <a:tc>
                  <a:txBody>
                    <a:bodyPr/>
                    <a:lstStyle/>
                    <a:p>
                      <a:pPr marL="0" lvl="0" indent="0" algn="l" rtl="0">
                        <a:spcBef>
                          <a:spcPts val="0"/>
                        </a:spcBef>
                        <a:spcAft>
                          <a:spcPts val="0"/>
                        </a:spcAft>
                        <a:buNone/>
                      </a:pPr>
                      <a:r>
                        <a:rPr lang="en-US" sz="1200">
                          <a:highlight>
                            <a:srgbClr val="FFFFFF"/>
                          </a:highlight>
                        </a:rPr>
                        <a:t>Sex ratio at birth (male births per female births)</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13"/>
                  </a:ext>
                </a:extLst>
              </a:tr>
            </a:tbl>
          </a:graphicData>
        </a:graphic>
      </p:graphicFrame>
      <p:graphicFrame>
        <p:nvGraphicFramePr>
          <p:cNvPr id="141" name="Google Shape;141;p17"/>
          <p:cNvGraphicFramePr/>
          <p:nvPr/>
        </p:nvGraphicFramePr>
        <p:xfrm>
          <a:off x="5665950" y="1344263"/>
          <a:ext cx="4815650" cy="4747788"/>
        </p:xfrm>
        <a:graphic>
          <a:graphicData uri="http://schemas.openxmlformats.org/drawingml/2006/table">
            <a:tbl>
              <a:tblPr>
                <a:noFill/>
                <a:tableStyleId>{8EF43105-30C4-4979-AD7D-935C66147BA0}</a:tableStyleId>
              </a:tblPr>
              <a:tblGrid>
                <a:gridCol w="3942975">
                  <a:extLst>
                    <a:ext uri="{9D8B030D-6E8A-4147-A177-3AD203B41FA5}">
                      <a16:colId xmlns:a16="http://schemas.microsoft.com/office/drawing/2014/main" val="20000"/>
                    </a:ext>
                  </a:extLst>
                </a:gridCol>
                <a:gridCol w="872675">
                  <a:extLst>
                    <a:ext uri="{9D8B030D-6E8A-4147-A177-3AD203B41FA5}">
                      <a16:colId xmlns:a16="http://schemas.microsoft.com/office/drawing/2014/main" val="20001"/>
                    </a:ext>
                  </a:extLst>
                </a:gridCol>
              </a:tblGrid>
              <a:tr h="0">
                <a:tc>
                  <a:txBody>
                    <a:bodyPr/>
                    <a:lstStyle/>
                    <a:p>
                      <a:pPr marL="0" lvl="0" indent="0" algn="l" rtl="0">
                        <a:spcBef>
                          <a:spcPts val="0"/>
                        </a:spcBef>
                        <a:spcAft>
                          <a:spcPts val="0"/>
                        </a:spcAft>
                        <a:buNone/>
                      </a:pPr>
                      <a:r>
                        <a:rPr lang="en-US" sz="1200">
                          <a:highlight>
                            <a:srgbClr val="FFFFFF"/>
                          </a:highlight>
                        </a:rPr>
                        <a:t>Individuals using the Internet (% of population)</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US" sz="1200">
                          <a:highlight>
                            <a:srgbClr val="FFFFFF"/>
                          </a:highlight>
                        </a:rPr>
                        <a:t>Inflation, consumer prices (annual %)</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US" sz="1200">
                          <a:highlight>
                            <a:srgbClr val="FFFFFF"/>
                          </a:highlight>
                        </a:rPr>
                        <a:t>School enrollment, primary (% gross)</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US" sz="1200">
                          <a:highlight>
                            <a:srgbClr val="FFFFFF"/>
                          </a:highlight>
                        </a:rPr>
                        <a:t>Oil rents (% of GDP)</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3"/>
                  </a:ext>
                </a:extLst>
              </a:tr>
              <a:tr h="330200">
                <a:tc>
                  <a:txBody>
                    <a:bodyPr/>
                    <a:lstStyle/>
                    <a:p>
                      <a:pPr marL="0" lvl="0" indent="0" algn="l" rtl="0">
                        <a:spcBef>
                          <a:spcPts val="0"/>
                        </a:spcBef>
                        <a:spcAft>
                          <a:spcPts val="0"/>
                        </a:spcAft>
                        <a:buNone/>
                      </a:pPr>
                      <a:r>
                        <a:rPr lang="en-US" sz="1200">
                          <a:highlight>
                            <a:srgbClr val="FFFFFF"/>
                          </a:highlight>
                        </a:rPr>
                        <a:t>Number of under-five deaths</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highlight>
                            <a:srgbClr val="FFFFFF"/>
                          </a:highlight>
                        </a:rPr>
                        <a:t>Numeric</a:t>
                      </a:r>
                      <a:endParaRPr sz="1200">
                        <a:highlight>
                          <a:srgbClr val="FFFFFF"/>
                        </a:highlight>
                      </a:endParaRPr>
                    </a:p>
                  </a:txBody>
                  <a:tcPr marL="63500" marR="63500" marT="63500" marB="63500"/>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US" sz="1200">
                          <a:highlight>
                            <a:srgbClr val="FFFFFF"/>
                          </a:highlight>
                        </a:rPr>
                        <a:t>Number of infant deaths</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highlight>
                            <a:srgbClr val="FFFFFF"/>
                          </a:highlight>
                        </a:rPr>
                        <a:t>Numeric</a:t>
                      </a:r>
                      <a:endParaRPr sz="1200">
                        <a:highlight>
                          <a:srgbClr val="FFFFFF"/>
                        </a:highlight>
                      </a:endParaRPr>
                    </a:p>
                  </a:txBody>
                  <a:tcPr marL="63500" marR="63500" marT="63500" marB="63500"/>
                </a:tc>
                <a:extLst>
                  <a:ext uri="{0D108BD9-81ED-4DB2-BD59-A6C34878D82A}">
                    <a16:rowId xmlns:a16="http://schemas.microsoft.com/office/drawing/2014/main" val="10005"/>
                  </a:ext>
                </a:extLst>
              </a:tr>
              <a:tr h="0">
                <a:tc>
                  <a:txBody>
                    <a:bodyPr/>
                    <a:lstStyle/>
                    <a:p>
                      <a:pPr marL="0" lvl="0" indent="0" algn="l" rtl="0">
                        <a:lnSpc>
                          <a:spcPct val="115000"/>
                        </a:lnSpc>
                        <a:spcBef>
                          <a:spcPts val="0"/>
                        </a:spcBef>
                        <a:spcAft>
                          <a:spcPts val="0"/>
                        </a:spcAft>
                        <a:buNone/>
                      </a:pPr>
                      <a:r>
                        <a:rPr lang="en-US" sz="1200">
                          <a:highlight>
                            <a:srgbClr val="FFFFFF"/>
                          </a:highlight>
                        </a:rPr>
                        <a:t>GNI per capita growth (annual %) </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6"/>
                  </a:ext>
                </a:extLst>
              </a:tr>
              <a:tr h="322025">
                <a:tc>
                  <a:txBody>
                    <a:bodyPr/>
                    <a:lstStyle/>
                    <a:p>
                      <a:pPr marL="0" lvl="0" indent="0" algn="l" rtl="0">
                        <a:lnSpc>
                          <a:spcPct val="115000"/>
                        </a:lnSpc>
                        <a:spcBef>
                          <a:spcPts val="0"/>
                        </a:spcBef>
                        <a:spcAft>
                          <a:spcPts val="0"/>
                        </a:spcAft>
                        <a:buNone/>
                      </a:pPr>
                      <a:r>
                        <a:rPr lang="en-US" sz="1200">
                          <a:highlight>
                            <a:srgbClr val="FFFFFF"/>
                          </a:highlight>
                        </a:rPr>
                        <a:t>GNI per capita PPP (current international $)</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7"/>
                  </a:ext>
                </a:extLst>
              </a:tr>
              <a:tr h="0">
                <a:tc>
                  <a:txBody>
                    <a:bodyPr/>
                    <a:lstStyle/>
                    <a:p>
                      <a:pPr marL="0" lvl="0" indent="0" algn="l" rtl="0">
                        <a:lnSpc>
                          <a:spcPct val="115000"/>
                        </a:lnSpc>
                        <a:spcBef>
                          <a:spcPts val="0"/>
                        </a:spcBef>
                        <a:spcAft>
                          <a:spcPts val="0"/>
                        </a:spcAft>
                        <a:buNone/>
                      </a:pPr>
                      <a:r>
                        <a:rPr lang="en-US" sz="1200">
                          <a:highlight>
                            <a:srgbClr val="FFFFFF"/>
                          </a:highlight>
                        </a:rPr>
                        <a:t>GDP per capita growth (Annual %)</a:t>
                      </a:r>
                      <a:endParaRPr sz="1200">
                        <a:highlight>
                          <a:srgbClr val="FFFFFF"/>
                        </a:highlight>
                      </a:endParaRPr>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8"/>
                  </a:ext>
                </a:extLst>
              </a:tr>
              <a:tr h="0">
                <a:tc>
                  <a:txBody>
                    <a:bodyPr/>
                    <a:lstStyle/>
                    <a:p>
                      <a:pPr marL="0" lvl="0" indent="0" algn="l" rtl="0">
                        <a:lnSpc>
                          <a:spcPct val="115000"/>
                        </a:lnSpc>
                        <a:spcBef>
                          <a:spcPts val="0"/>
                        </a:spcBef>
                        <a:spcAft>
                          <a:spcPts val="0"/>
                        </a:spcAft>
                        <a:buNone/>
                      </a:pPr>
                      <a:r>
                        <a:rPr lang="en-US" sz="1200"/>
                        <a:t>GDP per capita PPP (current international $)</a:t>
                      </a:r>
                      <a:endParaRPr sz="1200"/>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09"/>
                  </a:ext>
                </a:extLst>
              </a:tr>
              <a:tr h="0">
                <a:tc>
                  <a:txBody>
                    <a:bodyPr/>
                    <a:lstStyle/>
                    <a:p>
                      <a:pPr marL="0" lvl="0" indent="0" algn="l" rtl="0">
                        <a:lnSpc>
                          <a:spcPct val="115000"/>
                        </a:lnSpc>
                        <a:spcBef>
                          <a:spcPts val="0"/>
                        </a:spcBef>
                        <a:spcAft>
                          <a:spcPts val="0"/>
                        </a:spcAft>
                        <a:buNone/>
                      </a:pPr>
                      <a:r>
                        <a:rPr lang="en-US" sz="1200"/>
                        <a:t>Strength of legal rights index (Weak, Medium or Strong)</a:t>
                      </a:r>
                      <a:endParaRPr sz="1200"/>
                    </a:p>
                  </a:txBody>
                  <a:tcPr marL="63500" marR="63500" marT="63500" marB="63500"/>
                </a:tc>
                <a:tc>
                  <a:txBody>
                    <a:bodyPr/>
                    <a:lstStyle/>
                    <a:p>
                      <a:pPr marL="0" lvl="0" indent="0" algn="l" rtl="0">
                        <a:spcBef>
                          <a:spcPts val="0"/>
                        </a:spcBef>
                        <a:spcAft>
                          <a:spcPts val="0"/>
                        </a:spcAft>
                        <a:buNone/>
                      </a:pPr>
                      <a:r>
                        <a:rPr lang="en-US" sz="1200"/>
                        <a:t>Nominal</a:t>
                      </a:r>
                      <a:endParaRPr sz="1200"/>
                    </a:p>
                  </a:txBody>
                  <a:tcPr marL="63500" marR="63500" marT="63500" marB="63500"/>
                </a:tc>
                <a:extLst>
                  <a:ext uri="{0D108BD9-81ED-4DB2-BD59-A6C34878D82A}">
                    <a16:rowId xmlns:a16="http://schemas.microsoft.com/office/drawing/2014/main" val="10010"/>
                  </a:ext>
                </a:extLst>
              </a:tr>
              <a:tr h="0">
                <a:tc>
                  <a:txBody>
                    <a:bodyPr/>
                    <a:lstStyle/>
                    <a:p>
                      <a:pPr marL="0" lvl="0" indent="0" algn="l" rtl="0">
                        <a:lnSpc>
                          <a:spcPct val="115000"/>
                        </a:lnSpc>
                        <a:spcBef>
                          <a:spcPts val="0"/>
                        </a:spcBef>
                        <a:spcAft>
                          <a:spcPts val="0"/>
                        </a:spcAft>
                        <a:buNone/>
                      </a:pPr>
                      <a:r>
                        <a:rPr lang="en-US" sz="1200"/>
                        <a:t>Life expectancy at birth, total (years)</a:t>
                      </a:r>
                      <a:endParaRPr sz="1200"/>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11"/>
                  </a:ext>
                </a:extLst>
              </a:tr>
              <a:tr h="276225">
                <a:tc>
                  <a:txBody>
                    <a:bodyPr/>
                    <a:lstStyle/>
                    <a:p>
                      <a:pPr marL="0" lvl="0" indent="0" algn="l" rtl="0">
                        <a:lnSpc>
                          <a:spcPct val="115000"/>
                        </a:lnSpc>
                        <a:spcBef>
                          <a:spcPts val="0"/>
                        </a:spcBef>
                        <a:spcAft>
                          <a:spcPts val="0"/>
                        </a:spcAft>
                        <a:buNone/>
                      </a:pPr>
                      <a:r>
                        <a:rPr lang="en-US" sz="1200"/>
                        <a:t>Military expenditure (% GDP)</a:t>
                      </a:r>
                      <a:endParaRPr sz="1200"/>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12"/>
                  </a:ext>
                </a:extLst>
              </a:tr>
              <a:tr h="0">
                <a:tc>
                  <a:txBody>
                    <a:bodyPr/>
                    <a:lstStyle/>
                    <a:p>
                      <a:pPr marL="0" lvl="0" indent="0" algn="l" rtl="0">
                        <a:lnSpc>
                          <a:spcPct val="115000"/>
                        </a:lnSpc>
                        <a:spcBef>
                          <a:spcPts val="0"/>
                        </a:spcBef>
                        <a:spcAft>
                          <a:spcPts val="0"/>
                        </a:spcAft>
                        <a:buNone/>
                      </a:pPr>
                      <a:r>
                        <a:rPr lang="en-US" sz="1200"/>
                        <a:t>Mobile cellular subscriptions (per 100 people) </a:t>
                      </a:r>
                      <a:endParaRPr sz="1200"/>
                    </a:p>
                  </a:txBody>
                  <a:tcPr marL="63500" marR="63500" marT="63500" marB="63500"/>
                </a:tc>
                <a:tc>
                  <a:txBody>
                    <a:bodyPr/>
                    <a:lstStyle/>
                    <a:p>
                      <a:pPr marL="0" lvl="0" indent="0" algn="l" rtl="0">
                        <a:spcBef>
                          <a:spcPts val="0"/>
                        </a:spcBef>
                        <a:spcAft>
                          <a:spcPts val="0"/>
                        </a:spcAft>
                        <a:buNone/>
                      </a:pPr>
                      <a:r>
                        <a:rPr lang="en-US" sz="1200"/>
                        <a:t>Numeric</a:t>
                      </a:r>
                      <a:endParaRPr sz="1200"/>
                    </a:p>
                  </a:txBody>
                  <a:tcPr marL="63500" marR="63500" marT="63500" marB="63500"/>
                </a:tc>
                <a:extLst>
                  <a:ext uri="{0D108BD9-81ED-4DB2-BD59-A6C34878D82A}">
                    <a16:rowId xmlns:a16="http://schemas.microsoft.com/office/drawing/2014/main" val="10013"/>
                  </a:ext>
                </a:extLst>
              </a:tr>
              <a:tr h="0">
                <a:tc>
                  <a:txBody>
                    <a:bodyPr/>
                    <a:lstStyle/>
                    <a:p>
                      <a:pPr marL="0" lvl="0" indent="0" algn="ctr" rtl="0">
                        <a:spcBef>
                          <a:spcPts val="0"/>
                        </a:spcBef>
                        <a:spcAft>
                          <a:spcPts val="0"/>
                        </a:spcAft>
                        <a:buNone/>
                      </a:pPr>
                      <a:r>
                        <a:rPr lang="en-US" sz="1200" b="1" u="sng"/>
                        <a:t>Human Development Index (HDI)</a:t>
                      </a:r>
                      <a:endParaRPr sz="1200" b="1" u="sng"/>
                    </a:p>
                  </a:txBody>
                  <a:tcPr marL="63500" marR="63500" marT="63500" marB="63500"/>
                </a:tc>
                <a:tc>
                  <a:txBody>
                    <a:bodyPr/>
                    <a:lstStyle/>
                    <a:p>
                      <a:pPr marL="0" lvl="0" indent="0" algn="l" rtl="0">
                        <a:spcBef>
                          <a:spcPts val="0"/>
                        </a:spcBef>
                        <a:spcAft>
                          <a:spcPts val="0"/>
                        </a:spcAft>
                        <a:buNone/>
                      </a:pPr>
                      <a:r>
                        <a:rPr lang="en-US" sz="1200" b="1"/>
                        <a:t>Numeric</a:t>
                      </a:r>
                      <a:endParaRPr sz="1200" b="1"/>
                    </a:p>
                  </a:txBody>
                  <a:tcPr marL="63500" marR="63500" marT="63500" marB="63500"/>
                </a:tc>
                <a:extLst>
                  <a:ext uri="{0D108BD9-81ED-4DB2-BD59-A6C34878D82A}">
                    <a16:rowId xmlns:a16="http://schemas.microsoft.com/office/drawing/2014/main" val="10014"/>
                  </a:ext>
                </a:extLst>
              </a:tr>
            </a:tbl>
          </a:graphicData>
        </a:graphic>
      </p:graphicFrame>
      <p:graphicFrame>
        <p:nvGraphicFramePr>
          <p:cNvPr id="142" name="Google Shape;142;p17"/>
          <p:cNvGraphicFramePr/>
          <p:nvPr/>
        </p:nvGraphicFramePr>
        <p:xfrm>
          <a:off x="5665950" y="1030650"/>
          <a:ext cx="4815650" cy="313625"/>
        </p:xfrm>
        <a:graphic>
          <a:graphicData uri="http://schemas.openxmlformats.org/drawingml/2006/table">
            <a:tbl>
              <a:tblPr>
                <a:noFill/>
                <a:tableStyleId>{8EF43105-30C4-4979-AD7D-935C66147BA0}</a:tableStyleId>
              </a:tblPr>
              <a:tblGrid>
                <a:gridCol w="3942975">
                  <a:extLst>
                    <a:ext uri="{9D8B030D-6E8A-4147-A177-3AD203B41FA5}">
                      <a16:colId xmlns:a16="http://schemas.microsoft.com/office/drawing/2014/main" val="20000"/>
                    </a:ext>
                  </a:extLst>
                </a:gridCol>
                <a:gridCol w="872675">
                  <a:extLst>
                    <a:ext uri="{9D8B030D-6E8A-4147-A177-3AD203B41FA5}">
                      <a16:colId xmlns:a16="http://schemas.microsoft.com/office/drawing/2014/main" val="20001"/>
                    </a:ext>
                  </a:extLst>
                </a:gridCol>
              </a:tblGrid>
              <a:tr h="313625">
                <a:tc>
                  <a:txBody>
                    <a:bodyPr/>
                    <a:lstStyle/>
                    <a:p>
                      <a:pPr marL="0" lvl="0" indent="0" algn="ctr" rtl="0">
                        <a:spcBef>
                          <a:spcPts val="0"/>
                        </a:spcBef>
                        <a:spcAft>
                          <a:spcPts val="0"/>
                        </a:spcAft>
                        <a:buNone/>
                      </a:pPr>
                      <a:r>
                        <a:rPr lang="en-US" sz="1200" b="1"/>
                        <a:t>Variable</a:t>
                      </a:r>
                      <a:endParaRPr sz="1200" b="1"/>
                    </a:p>
                  </a:txBody>
                  <a:tcPr marL="63500" marR="63500" marT="63500" marB="63500"/>
                </a:tc>
                <a:tc>
                  <a:txBody>
                    <a:bodyPr/>
                    <a:lstStyle/>
                    <a:p>
                      <a:pPr marL="0" lvl="0" indent="0" algn="ctr" rtl="0">
                        <a:spcBef>
                          <a:spcPts val="0"/>
                        </a:spcBef>
                        <a:spcAft>
                          <a:spcPts val="0"/>
                        </a:spcAft>
                        <a:buNone/>
                      </a:pPr>
                      <a:r>
                        <a:rPr lang="en-US" sz="1200" b="1"/>
                        <a:t>Type</a:t>
                      </a:r>
                      <a:endParaRPr sz="1200" b="1"/>
                    </a:p>
                  </a:txBody>
                  <a:tcPr marL="63500" marR="63500" marT="63500" marB="63500"/>
                </a:tc>
                <a:extLst>
                  <a:ext uri="{0D108BD9-81ED-4DB2-BD59-A6C34878D82A}">
                    <a16:rowId xmlns:a16="http://schemas.microsoft.com/office/drawing/2014/main" val="1000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8"/>
          <p:cNvSpPr txBox="1">
            <a:spLocks noGrp="1"/>
          </p:cNvSpPr>
          <p:nvPr>
            <p:ph type="title"/>
          </p:nvPr>
        </p:nvSpPr>
        <p:spPr>
          <a:xfrm>
            <a:off x="461319" y="155850"/>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Complete Project Analysis Mapping</a:t>
            </a:r>
            <a:endParaRPr/>
          </a:p>
        </p:txBody>
      </p:sp>
      <p:sp>
        <p:nvSpPr>
          <p:cNvPr id="149" name="Google Shape;149;p18"/>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6</a:t>
            </a:fld>
            <a:endParaRPr/>
          </a:p>
        </p:txBody>
      </p:sp>
      <p:pic>
        <p:nvPicPr>
          <p:cNvPr id="150" name="Google Shape;150;p18"/>
          <p:cNvPicPr preferRelativeResize="0"/>
          <p:nvPr/>
        </p:nvPicPr>
        <p:blipFill rotWithShape="1">
          <a:blip r:embed="rId3">
            <a:alphaModFix/>
          </a:blip>
          <a:srcRect l="813" t="7227"/>
          <a:stretch/>
        </p:blipFill>
        <p:spPr>
          <a:xfrm>
            <a:off x="461325" y="1437150"/>
            <a:ext cx="10420800" cy="484187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9"/>
          <p:cNvSpPr txBox="1">
            <a:spLocks noGrp="1"/>
          </p:cNvSpPr>
          <p:nvPr>
            <p:ph type="title"/>
          </p:nvPr>
        </p:nvSpPr>
        <p:spPr>
          <a:xfrm>
            <a:off x="399919" y="74800"/>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Data Explore</a:t>
            </a:r>
            <a:endParaRPr/>
          </a:p>
        </p:txBody>
      </p:sp>
      <p:sp>
        <p:nvSpPr>
          <p:cNvPr id="157" name="Google Shape;157;p19"/>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7</a:t>
            </a:fld>
            <a:endParaRPr/>
          </a:p>
        </p:txBody>
      </p:sp>
      <p:pic>
        <p:nvPicPr>
          <p:cNvPr id="158" name="Google Shape;158;p19"/>
          <p:cNvPicPr preferRelativeResize="0"/>
          <p:nvPr/>
        </p:nvPicPr>
        <p:blipFill>
          <a:blip r:embed="rId3">
            <a:alphaModFix/>
          </a:blip>
          <a:stretch>
            <a:fillRect/>
          </a:stretch>
        </p:blipFill>
        <p:spPr>
          <a:xfrm>
            <a:off x="681650" y="1300213"/>
            <a:ext cx="10139075" cy="5280050"/>
          </a:xfrm>
          <a:prstGeom prst="rect">
            <a:avLst/>
          </a:prstGeom>
          <a:noFill/>
          <a:ln>
            <a:noFill/>
          </a:ln>
        </p:spPr>
      </p:pic>
      <p:sp>
        <p:nvSpPr>
          <p:cNvPr id="159" name="Google Shape;159;p19"/>
          <p:cNvSpPr/>
          <p:nvPr/>
        </p:nvSpPr>
        <p:spPr>
          <a:xfrm>
            <a:off x="6115800" y="1300223"/>
            <a:ext cx="802800" cy="5064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9"/>
          <p:cNvSpPr/>
          <p:nvPr/>
        </p:nvSpPr>
        <p:spPr>
          <a:xfrm>
            <a:off x="4532650" y="896375"/>
            <a:ext cx="585600" cy="365100"/>
          </a:xfrm>
          <a:prstGeom prst="downArrow">
            <a:avLst>
              <a:gd name="adj1" fmla="val 50000"/>
              <a:gd name="adj2" fmla="val 50000"/>
            </a:avLst>
          </a:prstGeom>
          <a:solidFill>
            <a:srgbClr val="FF0000"/>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9"/>
          <p:cNvSpPr/>
          <p:nvPr/>
        </p:nvSpPr>
        <p:spPr>
          <a:xfrm flipH="1">
            <a:off x="6186900" y="896388"/>
            <a:ext cx="660600" cy="365100"/>
          </a:xfrm>
          <a:prstGeom prst="downArrow">
            <a:avLst>
              <a:gd name="adj1" fmla="val 50000"/>
              <a:gd name="adj2" fmla="val 50000"/>
            </a:avLst>
          </a:prstGeom>
          <a:solidFill>
            <a:srgbClr val="FF0000"/>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9"/>
          <p:cNvSpPr/>
          <p:nvPr/>
        </p:nvSpPr>
        <p:spPr>
          <a:xfrm>
            <a:off x="9262625" y="935113"/>
            <a:ext cx="585600" cy="365100"/>
          </a:xfrm>
          <a:prstGeom prst="downArrow">
            <a:avLst>
              <a:gd name="adj1" fmla="val 50000"/>
              <a:gd name="adj2" fmla="val 50000"/>
            </a:avLst>
          </a:prstGeom>
          <a:solidFill>
            <a:srgbClr val="FF0000"/>
          </a:solid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9"/>
          <p:cNvSpPr txBox="1"/>
          <p:nvPr/>
        </p:nvSpPr>
        <p:spPr>
          <a:xfrm>
            <a:off x="4326100" y="277738"/>
            <a:ext cx="998700" cy="57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atin typeface="Calibri"/>
                <a:ea typeface="Calibri"/>
                <a:cs typeface="Calibri"/>
                <a:sym typeface="Calibri"/>
              </a:rPr>
              <a:t>Some are Large</a:t>
            </a:r>
            <a:endParaRPr>
              <a:latin typeface="Calibri"/>
              <a:ea typeface="Calibri"/>
              <a:cs typeface="Calibri"/>
              <a:sym typeface="Calibri"/>
            </a:endParaRPr>
          </a:p>
        </p:txBody>
      </p:sp>
      <p:sp>
        <p:nvSpPr>
          <p:cNvPr id="164" name="Google Shape;164;p19"/>
          <p:cNvSpPr txBox="1"/>
          <p:nvPr/>
        </p:nvSpPr>
        <p:spPr>
          <a:xfrm>
            <a:off x="5946750" y="277738"/>
            <a:ext cx="998700" cy="57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atin typeface="Calibri"/>
                <a:ea typeface="Calibri"/>
                <a:cs typeface="Calibri"/>
                <a:sym typeface="Calibri"/>
              </a:rPr>
              <a:t>7.58% of the data</a:t>
            </a:r>
            <a:endParaRPr>
              <a:latin typeface="Calibri"/>
              <a:ea typeface="Calibri"/>
              <a:cs typeface="Calibri"/>
              <a:sym typeface="Calibri"/>
            </a:endParaRPr>
          </a:p>
        </p:txBody>
      </p:sp>
      <p:sp>
        <p:nvSpPr>
          <p:cNvPr id="165" name="Google Shape;165;p19"/>
          <p:cNvSpPr txBox="1"/>
          <p:nvPr/>
        </p:nvSpPr>
        <p:spPr>
          <a:xfrm>
            <a:off x="9056075" y="314788"/>
            <a:ext cx="998700" cy="57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atin typeface="Calibri"/>
                <a:ea typeface="Calibri"/>
                <a:cs typeface="Calibri"/>
                <a:sym typeface="Calibri"/>
              </a:rPr>
              <a:t>Some are high</a:t>
            </a:r>
            <a:endParaRPr>
              <a:latin typeface="Calibri"/>
              <a:ea typeface="Calibri"/>
              <a:cs typeface="Calibri"/>
              <a:sym typeface="Calibri"/>
            </a:endParaRPr>
          </a:p>
        </p:txBody>
      </p:sp>
      <p:sp>
        <p:nvSpPr>
          <p:cNvPr id="166" name="Google Shape;166;p19"/>
          <p:cNvSpPr/>
          <p:nvPr/>
        </p:nvSpPr>
        <p:spPr>
          <a:xfrm>
            <a:off x="4424050" y="3139041"/>
            <a:ext cx="802800" cy="1599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9"/>
          <p:cNvSpPr/>
          <p:nvPr/>
        </p:nvSpPr>
        <p:spPr>
          <a:xfrm>
            <a:off x="4424050" y="4704334"/>
            <a:ext cx="802800" cy="3651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9"/>
          <p:cNvSpPr/>
          <p:nvPr/>
        </p:nvSpPr>
        <p:spPr>
          <a:xfrm>
            <a:off x="4424050" y="3475591"/>
            <a:ext cx="802800" cy="1599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9"/>
          <p:cNvSpPr/>
          <p:nvPr/>
        </p:nvSpPr>
        <p:spPr>
          <a:xfrm>
            <a:off x="9154025" y="3993116"/>
            <a:ext cx="802800" cy="1599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9"/>
          <p:cNvSpPr/>
          <p:nvPr/>
        </p:nvSpPr>
        <p:spPr>
          <a:xfrm>
            <a:off x="9154025" y="4704345"/>
            <a:ext cx="802800" cy="5064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9"/>
          <p:cNvSpPr/>
          <p:nvPr/>
        </p:nvSpPr>
        <p:spPr>
          <a:xfrm>
            <a:off x="9154025" y="4348728"/>
            <a:ext cx="802800" cy="1599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0"/>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8</a:t>
            </a:fld>
            <a:endParaRPr/>
          </a:p>
        </p:txBody>
      </p:sp>
      <p:pic>
        <p:nvPicPr>
          <p:cNvPr id="178" name="Google Shape;178;p20"/>
          <p:cNvPicPr preferRelativeResize="0"/>
          <p:nvPr/>
        </p:nvPicPr>
        <p:blipFill rotWithShape="1">
          <a:blip r:embed="rId3">
            <a:alphaModFix/>
          </a:blip>
          <a:srcRect l="49532" r="25138" b="82373"/>
          <a:stretch/>
        </p:blipFill>
        <p:spPr>
          <a:xfrm>
            <a:off x="650375" y="1913750"/>
            <a:ext cx="3030525" cy="1267550"/>
          </a:xfrm>
          <a:prstGeom prst="rect">
            <a:avLst/>
          </a:prstGeom>
          <a:noFill/>
          <a:ln>
            <a:noFill/>
          </a:ln>
        </p:spPr>
      </p:pic>
      <p:pic>
        <p:nvPicPr>
          <p:cNvPr id="179" name="Google Shape;179;p20"/>
          <p:cNvPicPr preferRelativeResize="0"/>
          <p:nvPr/>
        </p:nvPicPr>
        <p:blipFill>
          <a:blip r:embed="rId4">
            <a:alphaModFix/>
          </a:blip>
          <a:stretch>
            <a:fillRect/>
          </a:stretch>
        </p:blipFill>
        <p:spPr>
          <a:xfrm>
            <a:off x="650374" y="3156500"/>
            <a:ext cx="3030525" cy="3311700"/>
          </a:xfrm>
          <a:prstGeom prst="rect">
            <a:avLst/>
          </a:prstGeom>
          <a:noFill/>
          <a:ln>
            <a:noFill/>
          </a:ln>
        </p:spPr>
      </p:pic>
      <p:sp>
        <p:nvSpPr>
          <p:cNvPr id="180" name="Google Shape;180;p20"/>
          <p:cNvSpPr txBox="1"/>
          <p:nvPr/>
        </p:nvSpPr>
        <p:spPr>
          <a:xfrm>
            <a:off x="947000" y="1204950"/>
            <a:ext cx="3310200" cy="57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latin typeface="Calibri"/>
                <a:ea typeface="Calibri"/>
                <a:cs typeface="Calibri"/>
                <a:sym typeface="Calibri"/>
              </a:rPr>
              <a:t>Military Expenditure</a:t>
            </a:r>
            <a:endParaRPr sz="1800">
              <a:latin typeface="Calibri"/>
              <a:ea typeface="Calibri"/>
              <a:cs typeface="Calibri"/>
              <a:sym typeface="Calibri"/>
            </a:endParaRPr>
          </a:p>
          <a:p>
            <a:pPr marL="457200" lvl="0" indent="0" algn="l" rtl="0">
              <a:lnSpc>
                <a:spcPct val="90000"/>
              </a:lnSpc>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Skewness = 3.07</a:t>
            </a:r>
            <a:endParaRPr sz="1800">
              <a:latin typeface="Calibri"/>
              <a:ea typeface="Calibri"/>
              <a:cs typeface="Calibri"/>
              <a:sym typeface="Calibri"/>
            </a:endParaRPr>
          </a:p>
        </p:txBody>
      </p:sp>
      <p:pic>
        <p:nvPicPr>
          <p:cNvPr id="181" name="Google Shape;181;p20"/>
          <p:cNvPicPr preferRelativeResize="0"/>
          <p:nvPr/>
        </p:nvPicPr>
        <p:blipFill>
          <a:blip r:embed="rId5">
            <a:alphaModFix/>
          </a:blip>
          <a:stretch>
            <a:fillRect/>
          </a:stretch>
        </p:blipFill>
        <p:spPr>
          <a:xfrm>
            <a:off x="3789613" y="3181300"/>
            <a:ext cx="3030525" cy="3262094"/>
          </a:xfrm>
          <a:prstGeom prst="rect">
            <a:avLst/>
          </a:prstGeom>
          <a:noFill/>
          <a:ln>
            <a:noFill/>
          </a:ln>
        </p:spPr>
      </p:pic>
      <p:sp>
        <p:nvSpPr>
          <p:cNvPr id="182" name="Google Shape;182;p20"/>
          <p:cNvSpPr txBox="1"/>
          <p:nvPr/>
        </p:nvSpPr>
        <p:spPr>
          <a:xfrm>
            <a:off x="3955225" y="1179413"/>
            <a:ext cx="3310200" cy="57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a:latin typeface="Calibri"/>
                <a:ea typeface="Calibri"/>
                <a:cs typeface="Calibri"/>
                <a:sym typeface="Calibri"/>
              </a:rPr>
              <a:t>Number of Infant Deaths</a:t>
            </a:r>
            <a:endParaRPr sz="1800">
              <a:latin typeface="Calibri"/>
              <a:ea typeface="Calibri"/>
              <a:cs typeface="Calibri"/>
              <a:sym typeface="Calibri"/>
            </a:endParaRPr>
          </a:p>
          <a:p>
            <a:pPr marL="457200" lvl="0" indent="0" algn="l" rtl="0">
              <a:lnSpc>
                <a:spcPct val="90000"/>
              </a:lnSpc>
              <a:spcBef>
                <a:spcPts val="0"/>
              </a:spcBef>
              <a:spcAft>
                <a:spcPts val="0"/>
              </a:spcAft>
              <a:buClr>
                <a:schemeClr val="dk1"/>
              </a:buClr>
              <a:buSzPts val="1100"/>
              <a:buFont typeface="Arial"/>
              <a:buNone/>
            </a:pPr>
            <a:r>
              <a:rPr lang="en-US" sz="1500">
                <a:solidFill>
                  <a:schemeClr val="dk1"/>
                </a:solidFill>
                <a:latin typeface="Calibri"/>
                <a:ea typeface="Calibri"/>
                <a:cs typeface="Calibri"/>
                <a:sym typeface="Calibri"/>
              </a:rPr>
              <a:t>Skewness = 7.65</a:t>
            </a:r>
            <a:endParaRPr sz="1800">
              <a:latin typeface="Calibri"/>
              <a:ea typeface="Calibri"/>
              <a:cs typeface="Calibri"/>
              <a:sym typeface="Calibri"/>
            </a:endParaRPr>
          </a:p>
        </p:txBody>
      </p:sp>
      <p:pic>
        <p:nvPicPr>
          <p:cNvPr id="183" name="Google Shape;183;p20"/>
          <p:cNvPicPr preferRelativeResize="0"/>
          <p:nvPr/>
        </p:nvPicPr>
        <p:blipFill>
          <a:blip r:embed="rId6">
            <a:alphaModFix/>
          </a:blip>
          <a:stretch>
            <a:fillRect/>
          </a:stretch>
        </p:blipFill>
        <p:spPr>
          <a:xfrm>
            <a:off x="3876088" y="1913751"/>
            <a:ext cx="2944050" cy="1267550"/>
          </a:xfrm>
          <a:prstGeom prst="rect">
            <a:avLst/>
          </a:prstGeom>
          <a:noFill/>
          <a:ln>
            <a:noFill/>
          </a:ln>
        </p:spPr>
      </p:pic>
      <p:pic>
        <p:nvPicPr>
          <p:cNvPr id="184" name="Google Shape;184;p20"/>
          <p:cNvPicPr preferRelativeResize="0"/>
          <p:nvPr/>
        </p:nvPicPr>
        <p:blipFill>
          <a:blip r:embed="rId7">
            <a:alphaModFix/>
          </a:blip>
          <a:stretch>
            <a:fillRect/>
          </a:stretch>
        </p:blipFill>
        <p:spPr>
          <a:xfrm>
            <a:off x="7015338" y="3221675"/>
            <a:ext cx="2828925" cy="3181350"/>
          </a:xfrm>
          <a:prstGeom prst="rect">
            <a:avLst/>
          </a:prstGeom>
          <a:noFill/>
          <a:ln>
            <a:noFill/>
          </a:ln>
        </p:spPr>
      </p:pic>
      <p:pic>
        <p:nvPicPr>
          <p:cNvPr id="185" name="Google Shape;185;p20"/>
          <p:cNvPicPr preferRelativeResize="0"/>
          <p:nvPr/>
        </p:nvPicPr>
        <p:blipFill>
          <a:blip r:embed="rId8">
            <a:alphaModFix/>
          </a:blip>
          <a:stretch>
            <a:fillRect/>
          </a:stretch>
        </p:blipFill>
        <p:spPr>
          <a:xfrm>
            <a:off x="7015325" y="1951624"/>
            <a:ext cx="2828925" cy="1191808"/>
          </a:xfrm>
          <a:prstGeom prst="rect">
            <a:avLst/>
          </a:prstGeom>
          <a:noFill/>
          <a:ln>
            <a:noFill/>
          </a:ln>
        </p:spPr>
      </p:pic>
      <p:sp>
        <p:nvSpPr>
          <p:cNvPr id="186" name="Google Shape;186;p20"/>
          <p:cNvSpPr txBox="1"/>
          <p:nvPr/>
        </p:nvSpPr>
        <p:spPr>
          <a:xfrm>
            <a:off x="6703288" y="1156200"/>
            <a:ext cx="3453000" cy="67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800">
                <a:latin typeface="Calibri"/>
                <a:ea typeface="Calibri"/>
                <a:cs typeface="Calibri"/>
                <a:sym typeface="Calibri"/>
              </a:rPr>
              <a:t>Inflation (Annual %)</a:t>
            </a:r>
            <a:endParaRPr sz="1800">
              <a:latin typeface="Calibri"/>
              <a:ea typeface="Calibri"/>
              <a:cs typeface="Calibri"/>
              <a:sym typeface="Calibri"/>
            </a:endParaRPr>
          </a:p>
          <a:p>
            <a:pPr marL="457200" lvl="0" indent="0" algn="ctr" rtl="0">
              <a:lnSpc>
                <a:spcPct val="90000"/>
              </a:lnSpc>
              <a:spcBef>
                <a:spcPts val="0"/>
              </a:spcBef>
              <a:spcAft>
                <a:spcPts val="0"/>
              </a:spcAft>
              <a:buNone/>
            </a:pPr>
            <a:r>
              <a:rPr lang="en-US" sz="1500">
                <a:solidFill>
                  <a:schemeClr val="dk1"/>
                </a:solidFill>
                <a:latin typeface="Calibri"/>
                <a:ea typeface="Calibri"/>
                <a:cs typeface="Calibri"/>
                <a:sym typeface="Calibri"/>
              </a:rPr>
              <a:t>Skewness = 18.66</a:t>
            </a:r>
            <a:endParaRPr sz="1800">
              <a:latin typeface="Calibri"/>
              <a:ea typeface="Calibri"/>
              <a:cs typeface="Calibri"/>
              <a:sym typeface="Calibri"/>
            </a:endParaRPr>
          </a:p>
        </p:txBody>
      </p:sp>
      <p:sp>
        <p:nvSpPr>
          <p:cNvPr id="187" name="Google Shape;187;p20"/>
          <p:cNvSpPr txBox="1">
            <a:spLocks noGrp="1"/>
          </p:cNvSpPr>
          <p:nvPr>
            <p:ph type="title"/>
          </p:nvPr>
        </p:nvSpPr>
        <p:spPr>
          <a:xfrm>
            <a:off x="399919" y="74800"/>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Examples of Skewness and Outliers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a:spLocks noGrp="1"/>
          </p:cNvSpPr>
          <p:nvPr>
            <p:ph type="title"/>
          </p:nvPr>
        </p:nvSpPr>
        <p:spPr>
          <a:xfrm>
            <a:off x="469650" y="173925"/>
            <a:ext cx="10420800" cy="6906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Correlation</a:t>
            </a:r>
            <a:endParaRPr/>
          </a:p>
        </p:txBody>
      </p:sp>
      <p:sp>
        <p:nvSpPr>
          <p:cNvPr id="194" name="Google Shape;194;p21"/>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9</a:t>
            </a:fld>
            <a:endParaRPr/>
          </a:p>
        </p:txBody>
      </p:sp>
      <p:pic>
        <p:nvPicPr>
          <p:cNvPr id="195" name="Google Shape;195;p21"/>
          <p:cNvPicPr preferRelativeResize="0"/>
          <p:nvPr/>
        </p:nvPicPr>
        <p:blipFill>
          <a:blip r:embed="rId3">
            <a:alphaModFix/>
          </a:blip>
          <a:stretch>
            <a:fillRect/>
          </a:stretch>
        </p:blipFill>
        <p:spPr>
          <a:xfrm>
            <a:off x="469650" y="1162100"/>
            <a:ext cx="10420800" cy="3684763"/>
          </a:xfrm>
          <a:prstGeom prst="rect">
            <a:avLst/>
          </a:prstGeom>
          <a:noFill/>
          <a:ln w="9525" cap="flat" cmpd="sng">
            <a:solidFill>
              <a:srgbClr val="000000"/>
            </a:solidFill>
            <a:prstDash val="solid"/>
            <a:round/>
            <a:headEnd type="none" w="sm" len="sm"/>
            <a:tailEnd type="none" w="sm" len="sm"/>
          </a:ln>
        </p:spPr>
      </p:pic>
      <p:sp>
        <p:nvSpPr>
          <p:cNvPr id="196" name="Google Shape;196;p21"/>
          <p:cNvSpPr txBox="1">
            <a:spLocks noGrp="1"/>
          </p:cNvSpPr>
          <p:nvPr>
            <p:ph type="body" idx="1"/>
          </p:nvPr>
        </p:nvSpPr>
        <p:spPr>
          <a:xfrm>
            <a:off x="780275" y="5075475"/>
            <a:ext cx="8686200" cy="7314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a:t>Can we conclude anything from just this correlation graph?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2"/>
          <p:cNvSpPr txBox="1">
            <a:spLocks noGrp="1"/>
          </p:cNvSpPr>
          <p:nvPr>
            <p:ph type="title"/>
          </p:nvPr>
        </p:nvSpPr>
        <p:spPr>
          <a:xfrm>
            <a:off x="461325" y="117100"/>
            <a:ext cx="10420800" cy="793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Data Preprocessing  </a:t>
            </a:r>
            <a:endParaRPr/>
          </a:p>
        </p:txBody>
      </p:sp>
      <p:sp>
        <p:nvSpPr>
          <p:cNvPr id="203" name="Google Shape;203;p22"/>
          <p:cNvSpPr txBox="1">
            <a:spLocks noGrp="1"/>
          </p:cNvSpPr>
          <p:nvPr>
            <p:ph type="body" idx="1"/>
          </p:nvPr>
        </p:nvSpPr>
        <p:spPr>
          <a:xfrm>
            <a:off x="423075" y="811000"/>
            <a:ext cx="10497300" cy="5696100"/>
          </a:xfrm>
          <a:prstGeom prst="rect">
            <a:avLst/>
          </a:prstGeom>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800"/>
          </a:p>
          <a:p>
            <a:pPr marL="457200" marR="0" lvl="0" indent="0" algn="l" rtl="0">
              <a:lnSpc>
                <a:spcPct val="90000"/>
              </a:lnSpc>
              <a:spcBef>
                <a:spcPts val="0"/>
              </a:spcBef>
              <a:spcAft>
                <a:spcPts val="0"/>
              </a:spcAft>
              <a:buNone/>
            </a:pPr>
            <a:endParaRPr sz="1800" b="1"/>
          </a:p>
          <a:p>
            <a:pPr marL="457200" marR="0" lvl="0" indent="-342900" algn="l" rtl="0">
              <a:lnSpc>
                <a:spcPct val="90000"/>
              </a:lnSpc>
              <a:spcBef>
                <a:spcPts val="0"/>
              </a:spcBef>
              <a:spcAft>
                <a:spcPts val="0"/>
              </a:spcAft>
              <a:buSzPts val="1800"/>
              <a:buFont typeface="Calibri"/>
              <a:buAutoNum type="arabicPeriod"/>
            </a:pPr>
            <a:r>
              <a:rPr lang="en-US" sz="1800" b="1"/>
              <a:t>Data Cleaning</a:t>
            </a:r>
            <a:endParaRPr sz="1800" b="1"/>
          </a:p>
          <a:p>
            <a:pPr marL="0" marR="0" lvl="0" indent="0" algn="l" rtl="0">
              <a:lnSpc>
                <a:spcPct val="90000"/>
              </a:lnSpc>
              <a:spcBef>
                <a:spcPts val="0"/>
              </a:spcBef>
              <a:spcAft>
                <a:spcPts val="0"/>
              </a:spcAft>
              <a:buNone/>
            </a:pPr>
            <a:endParaRPr sz="1800" b="1"/>
          </a:p>
          <a:p>
            <a:pPr marL="457200" marR="0" lvl="0" indent="-342900" algn="l" rtl="0">
              <a:lnSpc>
                <a:spcPct val="90000"/>
              </a:lnSpc>
              <a:spcBef>
                <a:spcPts val="0"/>
              </a:spcBef>
              <a:spcAft>
                <a:spcPts val="0"/>
              </a:spcAft>
              <a:buSzPts val="1800"/>
              <a:buChar char="•"/>
            </a:pPr>
            <a:r>
              <a:rPr lang="en-US" sz="1800" u="sng"/>
              <a:t>Missing data</a:t>
            </a:r>
            <a:r>
              <a:rPr lang="en-US" sz="1800"/>
              <a:t>  →   Interval &amp; class variables: Tree Surrogate; </a:t>
            </a:r>
            <a:endParaRPr sz="1800"/>
          </a:p>
          <a:p>
            <a:pPr marL="457200" marR="0" lvl="0" indent="0" algn="l" rtl="0">
              <a:lnSpc>
                <a:spcPct val="90000"/>
              </a:lnSpc>
              <a:spcBef>
                <a:spcPts val="0"/>
              </a:spcBef>
              <a:spcAft>
                <a:spcPts val="0"/>
              </a:spcAft>
              <a:buNone/>
            </a:pPr>
            <a:r>
              <a:rPr lang="en-US" sz="1800"/>
              <a:t>                                Missing cutoff: 100%;   </a:t>
            </a:r>
            <a:endParaRPr sz="1800"/>
          </a:p>
          <a:p>
            <a:pPr marL="457200" marR="0" lvl="0" indent="0" algn="l" rtl="0">
              <a:lnSpc>
                <a:spcPct val="90000"/>
              </a:lnSpc>
              <a:spcBef>
                <a:spcPts val="0"/>
              </a:spcBef>
              <a:spcAft>
                <a:spcPts val="0"/>
              </a:spcAft>
              <a:buNone/>
            </a:pPr>
            <a:r>
              <a:rPr lang="en-US" sz="1800"/>
              <a:t>                                Other settings: default</a:t>
            </a:r>
            <a:r>
              <a:rPr lang="en-US" i="1"/>
              <a:t> </a:t>
            </a:r>
            <a:endParaRPr i="1"/>
          </a:p>
          <a:p>
            <a:pPr marL="457200" marR="0" lvl="0" indent="0" algn="l" rtl="0">
              <a:lnSpc>
                <a:spcPct val="90000"/>
              </a:lnSpc>
              <a:spcBef>
                <a:spcPts val="0"/>
              </a:spcBef>
              <a:spcAft>
                <a:spcPts val="0"/>
              </a:spcAft>
              <a:buNone/>
            </a:pPr>
            <a:endParaRPr i="1"/>
          </a:p>
          <a:p>
            <a:pPr marL="457200" marR="0" lvl="0" indent="-342900" algn="l" rtl="0">
              <a:lnSpc>
                <a:spcPct val="90000"/>
              </a:lnSpc>
              <a:spcBef>
                <a:spcPts val="0"/>
              </a:spcBef>
              <a:spcAft>
                <a:spcPts val="0"/>
              </a:spcAft>
              <a:buSzPts val="1800"/>
              <a:buChar char="•"/>
            </a:pPr>
            <a:r>
              <a:rPr lang="en-US" sz="1800" u="sng"/>
              <a:t>Noisy data</a:t>
            </a:r>
            <a:r>
              <a:rPr lang="en-US" sz="1800"/>
              <a:t>    →    Exclude 186 observations by Filter node</a:t>
            </a:r>
            <a:endParaRPr sz="1800"/>
          </a:p>
          <a:p>
            <a:pPr marL="0" lvl="0" indent="0" algn="l" rtl="0">
              <a:spcBef>
                <a:spcPts val="0"/>
              </a:spcBef>
              <a:spcAft>
                <a:spcPts val="0"/>
              </a:spcAft>
              <a:buClr>
                <a:schemeClr val="dk1"/>
              </a:buClr>
              <a:buSzPts val="1100"/>
              <a:buFont typeface="Arial"/>
              <a:buNone/>
            </a:pPr>
            <a:endParaRPr sz="2200"/>
          </a:p>
          <a:p>
            <a:pPr marL="457200" lvl="0" indent="-342900" algn="l" rtl="0">
              <a:spcBef>
                <a:spcPts val="0"/>
              </a:spcBef>
              <a:spcAft>
                <a:spcPts val="0"/>
              </a:spcAft>
              <a:buSzPts val="1800"/>
              <a:buChar char="•"/>
            </a:pPr>
            <a:r>
              <a:rPr lang="en-US" sz="1800" u="sng"/>
              <a:t>Skewness</a:t>
            </a:r>
            <a:r>
              <a:rPr lang="en-US" sz="1800"/>
              <a:t>    →     Transformation using Log 10 for the skewness. </a:t>
            </a:r>
            <a:endParaRPr sz="1800"/>
          </a:p>
          <a:p>
            <a:pPr marL="457200" lvl="0" indent="0" algn="l" rtl="0">
              <a:spcBef>
                <a:spcPts val="0"/>
              </a:spcBef>
              <a:spcAft>
                <a:spcPts val="0"/>
              </a:spcAft>
              <a:buNone/>
            </a:pPr>
            <a:endParaRPr sz="1800"/>
          </a:p>
          <a:p>
            <a:pPr marL="1371600" lvl="0" indent="-323850" algn="l" rtl="0">
              <a:spcBef>
                <a:spcPts val="0"/>
              </a:spcBef>
              <a:spcAft>
                <a:spcPts val="0"/>
              </a:spcAft>
              <a:buSzPts val="1500"/>
              <a:buChar char="-"/>
            </a:pPr>
            <a:r>
              <a:rPr lang="en-US" sz="1500"/>
              <a:t>High skewness → </a:t>
            </a:r>
            <a:r>
              <a:rPr lang="en-US" sz="1500">
                <a:solidFill>
                  <a:srgbClr val="6AA84F"/>
                </a:solidFill>
              </a:rPr>
              <a:t>Inflation (annual %)</a:t>
            </a:r>
            <a:r>
              <a:rPr lang="en-US" sz="1500"/>
              <a:t> (Skewness = 18.66)</a:t>
            </a:r>
            <a:endParaRPr sz="1500"/>
          </a:p>
          <a:p>
            <a:pPr marL="1371600" lvl="0" indent="-323850" algn="l" rtl="0">
              <a:spcBef>
                <a:spcPts val="0"/>
              </a:spcBef>
              <a:spcAft>
                <a:spcPts val="0"/>
              </a:spcAft>
              <a:buSzPts val="1500"/>
              <a:buChar char="-"/>
            </a:pPr>
            <a:r>
              <a:rPr lang="en-US" sz="1500"/>
              <a:t>Medium skewness → </a:t>
            </a:r>
            <a:r>
              <a:rPr lang="en-US" sz="1500">
                <a:solidFill>
                  <a:srgbClr val="6AA84F"/>
                </a:solidFill>
              </a:rPr>
              <a:t>Number of infant deaths</a:t>
            </a:r>
            <a:r>
              <a:rPr lang="en-US" sz="1500"/>
              <a:t> and </a:t>
            </a:r>
            <a:r>
              <a:rPr lang="en-US" sz="1500">
                <a:solidFill>
                  <a:srgbClr val="6AA84F"/>
                </a:solidFill>
              </a:rPr>
              <a:t>Number of under 5 deaths (skewness=7.65 and 7.42)</a:t>
            </a:r>
            <a:endParaRPr sz="1500"/>
          </a:p>
          <a:p>
            <a:pPr marL="1371600" lvl="0" indent="-323850" algn="l" rtl="0">
              <a:spcBef>
                <a:spcPts val="0"/>
              </a:spcBef>
              <a:spcAft>
                <a:spcPts val="0"/>
              </a:spcAft>
              <a:buSzPts val="1500"/>
              <a:buChar char="-"/>
            </a:pPr>
            <a:r>
              <a:rPr lang="en-US" sz="1500"/>
              <a:t>Slight skewness → </a:t>
            </a:r>
            <a:r>
              <a:rPr lang="en-US" sz="1500" i="1">
                <a:solidFill>
                  <a:srgbClr val="6AA84F"/>
                </a:solidFill>
              </a:rPr>
              <a:t>Oil rents (% of GDP) (skewness=3.72)</a:t>
            </a:r>
            <a:endParaRPr sz="1500" i="1">
              <a:solidFill>
                <a:srgbClr val="6AA84F"/>
              </a:solidFill>
            </a:endParaRPr>
          </a:p>
          <a:p>
            <a:pPr marL="0" marR="0" lvl="0" indent="0" algn="l" rtl="0">
              <a:lnSpc>
                <a:spcPct val="90000"/>
              </a:lnSpc>
              <a:spcBef>
                <a:spcPts val="0"/>
              </a:spcBef>
              <a:spcAft>
                <a:spcPts val="0"/>
              </a:spcAft>
              <a:buNone/>
            </a:pPr>
            <a:endParaRPr sz="1800" u="sng"/>
          </a:p>
          <a:p>
            <a:pPr marL="457200" lvl="0" indent="-342900" algn="l" rtl="0">
              <a:spcBef>
                <a:spcPts val="1000"/>
              </a:spcBef>
              <a:spcAft>
                <a:spcPts val="0"/>
              </a:spcAft>
              <a:buSzPts val="1800"/>
              <a:buChar char="•"/>
            </a:pPr>
            <a:r>
              <a:rPr lang="en-US" sz="1800" u="sng"/>
              <a:t>Stabilizing variance</a:t>
            </a:r>
            <a:r>
              <a:rPr lang="en-US" sz="1800" u="sng">
                <a:latin typeface="Arial"/>
                <a:ea typeface="Arial"/>
                <a:cs typeface="Arial"/>
                <a:sym typeface="Arial"/>
              </a:rPr>
              <a:t>  </a:t>
            </a:r>
            <a:r>
              <a:rPr lang="en-US" sz="1800">
                <a:latin typeface="Arial"/>
                <a:ea typeface="Arial"/>
                <a:cs typeface="Arial"/>
                <a:sym typeface="Arial"/>
              </a:rPr>
              <a:t>→ </a:t>
            </a:r>
            <a:r>
              <a:rPr lang="en-US" sz="1800"/>
              <a:t>Transformed variables by standardization (Excluded nominal variables in this step) </a:t>
            </a:r>
            <a:endParaRPr sz="1800"/>
          </a:p>
          <a:p>
            <a:pPr marL="457200" lvl="0" indent="0" algn="l" rtl="0">
              <a:spcBef>
                <a:spcPts val="0"/>
              </a:spcBef>
              <a:spcAft>
                <a:spcPts val="0"/>
              </a:spcAft>
              <a:buClr>
                <a:schemeClr val="dk1"/>
              </a:buClr>
              <a:buSzPts val="1100"/>
              <a:buFont typeface="Arial"/>
              <a:buNone/>
            </a:pPr>
            <a:r>
              <a:rPr lang="en-US" sz="1800"/>
              <a:t>Standard deviation is large in these variables: </a:t>
            </a:r>
            <a:endParaRPr sz="1800"/>
          </a:p>
          <a:p>
            <a:pPr marL="914400" lvl="0" indent="-323850" algn="l" rtl="0">
              <a:spcBef>
                <a:spcPts val="0"/>
              </a:spcBef>
              <a:spcAft>
                <a:spcPts val="0"/>
              </a:spcAft>
              <a:buClr>
                <a:srgbClr val="6AA84F"/>
              </a:buClr>
              <a:buSzPts val="1500"/>
              <a:buChar char="•"/>
            </a:pPr>
            <a:r>
              <a:rPr lang="en-US" sz="1500">
                <a:solidFill>
                  <a:srgbClr val="6AA84F"/>
                </a:solidFill>
              </a:rPr>
              <a:t>GDP per capita PPP</a:t>
            </a:r>
            <a:endParaRPr sz="1500">
              <a:solidFill>
                <a:srgbClr val="6AA84F"/>
              </a:solidFill>
            </a:endParaRPr>
          </a:p>
          <a:p>
            <a:pPr marL="914400" lvl="0" indent="-323850" algn="l" rtl="0">
              <a:spcBef>
                <a:spcPts val="0"/>
              </a:spcBef>
              <a:spcAft>
                <a:spcPts val="0"/>
              </a:spcAft>
              <a:buClr>
                <a:srgbClr val="6AA84F"/>
              </a:buClr>
              <a:buSzPts val="1500"/>
              <a:buChar char="•"/>
            </a:pPr>
            <a:r>
              <a:rPr lang="en-US" sz="1500">
                <a:solidFill>
                  <a:srgbClr val="6AA84F"/>
                </a:solidFill>
              </a:rPr>
              <a:t>GNI per capita PPP</a:t>
            </a:r>
            <a:endParaRPr sz="1500">
              <a:solidFill>
                <a:srgbClr val="6AA84F"/>
              </a:solidFill>
            </a:endParaRPr>
          </a:p>
          <a:p>
            <a:pPr marL="914400" lvl="0" indent="-323850" algn="l" rtl="0">
              <a:spcBef>
                <a:spcPts val="0"/>
              </a:spcBef>
              <a:spcAft>
                <a:spcPts val="0"/>
              </a:spcAft>
              <a:buClr>
                <a:srgbClr val="6AA84F"/>
              </a:buClr>
              <a:buSzPts val="1500"/>
              <a:buChar char="•"/>
            </a:pPr>
            <a:r>
              <a:rPr lang="en-US" sz="1500">
                <a:solidFill>
                  <a:srgbClr val="6AA84F"/>
                </a:solidFill>
              </a:rPr>
              <a:t>Number of under 5 deaths</a:t>
            </a:r>
            <a:endParaRPr sz="1500">
              <a:solidFill>
                <a:srgbClr val="6AA84F"/>
              </a:solidFill>
            </a:endParaRPr>
          </a:p>
          <a:p>
            <a:pPr marL="914400" lvl="0" indent="-323850" algn="l" rtl="0">
              <a:spcBef>
                <a:spcPts val="0"/>
              </a:spcBef>
              <a:spcAft>
                <a:spcPts val="0"/>
              </a:spcAft>
              <a:buClr>
                <a:srgbClr val="6AA84F"/>
              </a:buClr>
              <a:buSzPts val="1500"/>
              <a:buChar char="•"/>
            </a:pPr>
            <a:r>
              <a:rPr lang="en-US" sz="1500">
                <a:solidFill>
                  <a:srgbClr val="6AA84F"/>
                </a:solidFill>
              </a:rPr>
              <a:t>Number of infant deaths</a:t>
            </a:r>
            <a:endParaRPr sz="1800"/>
          </a:p>
          <a:p>
            <a:pPr marL="0" marR="0" lvl="0" indent="0" algn="l" rtl="0">
              <a:lnSpc>
                <a:spcPct val="90000"/>
              </a:lnSpc>
              <a:spcBef>
                <a:spcPts val="0"/>
              </a:spcBef>
              <a:spcAft>
                <a:spcPts val="0"/>
              </a:spcAft>
              <a:buNone/>
            </a:pPr>
            <a:endParaRPr sz="1800"/>
          </a:p>
          <a:p>
            <a:pPr marL="0" marR="0" lvl="0" indent="0" algn="l" rtl="0">
              <a:lnSpc>
                <a:spcPct val="90000"/>
              </a:lnSpc>
              <a:spcBef>
                <a:spcPts val="0"/>
              </a:spcBef>
              <a:spcAft>
                <a:spcPts val="0"/>
              </a:spcAft>
              <a:buNone/>
            </a:pPr>
            <a:endParaRPr sz="1800"/>
          </a:p>
          <a:p>
            <a:pPr marL="0" marR="0" lvl="0" indent="0" algn="l" rtl="0">
              <a:lnSpc>
                <a:spcPct val="90000"/>
              </a:lnSpc>
              <a:spcBef>
                <a:spcPts val="0"/>
              </a:spcBef>
              <a:spcAft>
                <a:spcPts val="0"/>
              </a:spcAft>
              <a:buNone/>
            </a:pPr>
            <a:endParaRPr sz="1800"/>
          </a:p>
          <a:p>
            <a:pPr marL="0" lvl="0" indent="0" algn="l" rtl="0">
              <a:spcBef>
                <a:spcPts val="0"/>
              </a:spcBef>
              <a:spcAft>
                <a:spcPts val="0"/>
              </a:spcAft>
              <a:buNone/>
            </a:pPr>
            <a:endParaRPr sz="1100">
              <a:latin typeface="Arial"/>
              <a:ea typeface="Arial"/>
              <a:cs typeface="Arial"/>
              <a:sym typeface="Arial"/>
            </a:endParaRPr>
          </a:p>
        </p:txBody>
      </p:sp>
      <p:sp>
        <p:nvSpPr>
          <p:cNvPr id="204" name="Google Shape;204;p22"/>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10</a:t>
            </a:fld>
            <a:endParaRPr/>
          </a:p>
        </p:txBody>
      </p:sp>
      <p:pic>
        <p:nvPicPr>
          <p:cNvPr id="205" name="Google Shape;205;p22"/>
          <p:cNvPicPr preferRelativeResize="0"/>
          <p:nvPr/>
        </p:nvPicPr>
        <p:blipFill rotWithShape="1">
          <a:blip r:embed="rId3">
            <a:alphaModFix/>
          </a:blip>
          <a:srcRect b="-18469"/>
          <a:stretch/>
        </p:blipFill>
        <p:spPr>
          <a:xfrm>
            <a:off x="2849025" y="910900"/>
            <a:ext cx="7464675" cy="869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3"/>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11</a:t>
            </a:fld>
            <a:endParaRPr/>
          </a:p>
        </p:txBody>
      </p:sp>
      <p:sp>
        <p:nvSpPr>
          <p:cNvPr id="212" name="Google Shape;212;p23"/>
          <p:cNvSpPr txBox="1">
            <a:spLocks noGrp="1"/>
          </p:cNvSpPr>
          <p:nvPr>
            <p:ph type="body" idx="1"/>
          </p:nvPr>
        </p:nvSpPr>
        <p:spPr>
          <a:xfrm>
            <a:off x="486575" y="405275"/>
            <a:ext cx="10428000" cy="6316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endParaRPr sz="1800"/>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1000"/>
              </a:spcBef>
              <a:spcAft>
                <a:spcPts val="0"/>
              </a:spcAft>
              <a:buNone/>
            </a:pPr>
            <a:r>
              <a:rPr lang="en-US" sz="1800" b="1"/>
              <a:t>2. Data Integration and Reduction</a:t>
            </a:r>
            <a:endParaRPr sz="1800" b="1"/>
          </a:p>
          <a:p>
            <a:pPr marL="0" lvl="0" indent="0" algn="l" rtl="0">
              <a:spcBef>
                <a:spcPts val="1000"/>
              </a:spcBef>
              <a:spcAft>
                <a:spcPts val="0"/>
              </a:spcAft>
              <a:buNone/>
            </a:pPr>
            <a:endParaRPr sz="1800" b="1"/>
          </a:p>
          <a:p>
            <a:pPr marL="0" marR="0" lvl="0" indent="0" algn="just" rtl="0">
              <a:lnSpc>
                <a:spcPct val="115000"/>
              </a:lnSpc>
              <a:spcBef>
                <a:spcPts val="0"/>
              </a:spcBef>
              <a:spcAft>
                <a:spcPts val="0"/>
              </a:spcAft>
              <a:buNone/>
            </a:pPr>
            <a:r>
              <a:rPr lang="en-US" sz="1800" u="sng"/>
              <a:t>Variable Selection</a:t>
            </a:r>
            <a:endParaRPr sz="1800" u="sng"/>
          </a:p>
          <a:p>
            <a:pPr marL="0" marR="0" lvl="0" indent="0" algn="just" rtl="0">
              <a:lnSpc>
                <a:spcPct val="115000"/>
              </a:lnSpc>
              <a:spcBef>
                <a:spcPts val="0"/>
              </a:spcBef>
              <a:spcAft>
                <a:spcPts val="0"/>
              </a:spcAft>
              <a:buNone/>
            </a:pPr>
            <a:endParaRPr sz="1800"/>
          </a:p>
          <a:p>
            <a:pPr marL="457200" lvl="0" indent="-342900" algn="just" rtl="0">
              <a:lnSpc>
                <a:spcPct val="115000"/>
              </a:lnSpc>
              <a:spcBef>
                <a:spcPts val="0"/>
              </a:spcBef>
              <a:spcAft>
                <a:spcPts val="0"/>
              </a:spcAft>
              <a:buSzPts val="1800"/>
              <a:buChar char="•"/>
            </a:pPr>
            <a:r>
              <a:rPr lang="en-US" sz="1800"/>
              <a:t>Manual selection → Unrelated observations were manually rejected before importing the data into the</a:t>
            </a:r>
            <a:endParaRPr sz="1800"/>
          </a:p>
          <a:p>
            <a:pPr marL="1828800" lvl="0" indent="0" algn="just" rtl="0">
              <a:lnSpc>
                <a:spcPct val="115000"/>
              </a:lnSpc>
              <a:spcBef>
                <a:spcPts val="0"/>
              </a:spcBef>
              <a:spcAft>
                <a:spcPts val="0"/>
              </a:spcAft>
              <a:buNone/>
            </a:pPr>
            <a:r>
              <a:rPr lang="en-US" sz="1800"/>
              <a:t>          software. </a:t>
            </a:r>
            <a:endParaRPr sz="1800" b="1"/>
          </a:p>
          <a:p>
            <a:pPr marL="914400" lvl="0" indent="0" algn="just" rtl="0">
              <a:lnSpc>
                <a:spcPct val="115000"/>
              </a:lnSpc>
              <a:spcBef>
                <a:spcPts val="0"/>
              </a:spcBef>
              <a:spcAft>
                <a:spcPts val="0"/>
              </a:spcAft>
              <a:buNone/>
            </a:pPr>
            <a:endParaRPr sz="1800"/>
          </a:p>
          <a:p>
            <a:pPr marL="457200" lvl="0" indent="-342900" algn="l" rtl="0">
              <a:spcBef>
                <a:spcPts val="1000"/>
              </a:spcBef>
              <a:spcAft>
                <a:spcPts val="0"/>
              </a:spcAft>
              <a:buSzPts val="1800"/>
              <a:buChar char="•"/>
            </a:pPr>
            <a:r>
              <a:rPr lang="en-US" sz="1800"/>
              <a:t>Variable selection node  </a:t>
            </a:r>
            <a:endParaRPr sz="1800"/>
          </a:p>
          <a:p>
            <a:pPr marL="1371600" lvl="1" indent="-342900" algn="l" rtl="0">
              <a:spcBef>
                <a:spcPts val="0"/>
              </a:spcBef>
              <a:spcAft>
                <a:spcPts val="0"/>
              </a:spcAft>
              <a:buSzPts val="1800"/>
              <a:buChar char="•"/>
            </a:pPr>
            <a:r>
              <a:rPr lang="en-US" sz="1800"/>
              <a:t>Redundancy →</a:t>
            </a:r>
            <a:r>
              <a:rPr lang="en-US" sz="1800" b="1"/>
              <a:t> </a:t>
            </a:r>
            <a:r>
              <a:rPr lang="en-US" sz="1800"/>
              <a:t>Rejected </a:t>
            </a:r>
            <a:r>
              <a:rPr lang="en-US" sz="1800" i="1">
                <a:solidFill>
                  <a:srgbClr val="6AA84F"/>
                </a:solidFill>
              </a:rPr>
              <a:t>Number of infant deaths </a:t>
            </a:r>
            <a:r>
              <a:rPr lang="en-US" sz="1800"/>
              <a:t>→ Information overlap with</a:t>
            </a:r>
            <a:r>
              <a:rPr lang="en-US" sz="1800" i="1">
                <a:solidFill>
                  <a:schemeClr val="accent4"/>
                </a:solidFill>
              </a:rPr>
              <a:t> </a:t>
            </a:r>
            <a:r>
              <a:rPr lang="en-US" sz="1800" i="1">
                <a:solidFill>
                  <a:srgbClr val="6AA84F"/>
                </a:solidFill>
              </a:rPr>
              <a:t>Number of under 5 deaths</a:t>
            </a:r>
            <a:endParaRPr sz="1800" i="1">
              <a:solidFill>
                <a:srgbClr val="6AA84F"/>
              </a:solidFill>
            </a:endParaRPr>
          </a:p>
          <a:p>
            <a:pPr marL="1371600" lvl="1" indent="-342900" algn="l" rtl="0">
              <a:spcBef>
                <a:spcPts val="0"/>
              </a:spcBef>
              <a:spcAft>
                <a:spcPts val="0"/>
              </a:spcAft>
              <a:buSzPts val="1800"/>
              <a:buChar char="•"/>
            </a:pPr>
            <a:r>
              <a:rPr lang="en-US" sz="1800"/>
              <a:t>To keep variables that have more influence</a:t>
            </a:r>
            <a:endParaRPr sz="1800">
              <a:highlight>
                <a:srgbClr val="FFFF00"/>
              </a:highlight>
            </a:endParaRPr>
          </a:p>
          <a:p>
            <a:pPr marL="1371600" lvl="1" indent="-342900" algn="l" rtl="0">
              <a:spcBef>
                <a:spcPts val="0"/>
              </a:spcBef>
              <a:spcAft>
                <a:spcPts val="0"/>
              </a:spcAft>
              <a:buSzPts val="1800"/>
              <a:buChar char="•"/>
            </a:pPr>
            <a:r>
              <a:rPr lang="en-US" sz="1800"/>
              <a:t>Default settings: Minimum R square of 0.005 and a minimum Chi square of 3.84 </a:t>
            </a:r>
            <a:endParaRPr sz="1800"/>
          </a:p>
          <a:p>
            <a:pPr marL="0" lvl="0" indent="0" algn="l" rtl="0">
              <a:spcBef>
                <a:spcPts val="1000"/>
              </a:spcBef>
              <a:spcAft>
                <a:spcPts val="0"/>
              </a:spcAft>
              <a:buNone/>
            </a:pPr>
            <a:r>
              <a:rPr lang="en-US" sz="1800"/>
              <a:t>  </a:t>
            </a:r>
            <a:endParaRPr sz="1800" b="1"/>
          </a:p>
          <a:p>
            <a:pPr marL="0" lvl="0" indent="0" algn="l" rtl="0">
              <a:spcBef>
                <a:spcPts val="1000"/>
              </a:spcBef>
              <a:spcAft>
                <a:spcPts val="0"/>
              </a:spcAft>
              <a:buNone/>
            </a:pPr>
            <a:endParaRPr b="1"/>
          </a:p>
        </p:txBody>
      </p:sp>
      <p:sp>
        <p:nvSpPr>
          <p:cNvPr id="213" name="Google Shape;213;p23"/>
          <p:cNvSpPr txBox="1">
            <a:spLocks noGrp="1"/>
          </p:cNvSpPr>
          <p:nvPr>
            <p:ph type="title"/>
          </p:nvPr>
        </p:nvSpPr>
        <p:spPr>
          <a:xfrm>
            <a:off x="490175" y="383800"/>
            <a:ext cx="10420800" cy="7938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Data Preprocessing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4"/>
          <p:cNvSpPr txBox="1">
            <a:spLocks noGrp="1"/>
          </p:cNvSpPr>
          <p:nvPr>
            <p:ph type="body" idx="1"/>
          </p:nvPr>
        </p:nvSpPr>
        <p:spPr>
          <a:xfrm>
            <a:off x="421575" y="663025"/>
            <a:ext cx="10428000" cy="61950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1800" dirty="0">
              <a:latin typeface="Arial"/>
              <a:ea typeface="Arial"/>
              <a:cs typeface="Arial"/>
              <a:sym typeface="Arial"/>
            </a:endParaRPr>
          </a:p>
          <a:p>
            <a:pPr marL="0" lvl="0" indent="0" algn="l" rtl="0">
              <a:lnSpc>
                <a:spcPct val="115000"/>
              </a:lnSpc>
              <a:spcBef>
                <a:spcPts val="0"/>
              </a:spcBef>
              <a:spcAft>
                <a:spcPts val="0"/>
              </a:spcAft>
              <a:buNone/>
            </a:pPr>
            <a:endParaRPr sz="1800" dirty="0">
              <a:latin typeface="Arial"/>
              <a:ea typeface="Arial"/>
              <a:cs typeface="Arial"/>
              <a:sym typeface="Arial"/>
            </a:endParaRPr>
          </a:p>
          <a:p>
            <a:pPr marL="0" lvl="0" indent="0" algn="l" rtl="0">
              <a:lnSpc>
                <a:spcPct val="115000"/>
              </a:lnSpc>
              <a:spcBef>
                <a:spcPts val="0"/>
              </a:spcBef>
              <a:spcAft>
                <a:spcPts val="0"/>
              </a:spcAft>
              <a:buNone/>
            </a:pPr>
            <a:endParaRPr sz="1800" dirty="0">
              <a:latin typeface="Arial"/>
              <a:ea typeface="Arial"/>
              <a:cs typeface="Arial"/>
              <a:sym typeface="Arial"/>
            </a:endParaRPr>
          </a:p>
          <a:p>
            <a:pPr marL="0" lvl="0" indent="0" algn="l" rtl="0">
              <a:lnSpc>
                <a:spcPct val="115000"/>
              </a:lnSpc>
              <a:spcBef>
                <a:spcPts val="0"/>
              </a:spcBef>
              <a:spcAft>
                <a:spcPts val="0"/>
              </a:spcAft>
              <a:buNone/>
            </a:pPr>
            <a:endParaRPr sz="1800" dirty="0">
              <a:latin typeface="Arial"/>
              <a:ea typeface="Arial"/>
              <a:cs typeface="Arial"/>
              <a:sym typeface="Arial"/>
            </a:endParaRPr>
          </a:p>
          <a:p>
            <a:pPr marL="0" lvl="0" indent="0" algn="l" rtl="0">
              <a:lnSpc>
                <a:spcPct val="115000"/>
              </a:lnSpc>
              <a:spcBef>
                <a:spcPts val="0"/>
              </a:spcBef>
              <a:spcAft>
                <a:spcPts val="0"/>
              </a:spcAft>
              <a:buNone/>
            </a:pPr>
            <a:endParaRPr sz="1800" dirty="0">
              <a:latin typeface="Arial"/>
              <a:ea typeface="Arial"/>
              <a:cs typeface="Arial"/>
              <a:sym typeface="Arial"/>
            </a:endParaRPr>
          </a:p>
          <a:p>
            <a:pPr marL="0" lvl="0" indent="0" algn="l" rtl="0">
              <a:lnSpc>
                <a:spcPct val="115000"/>
              </a:lnSpc>
              <a:spcBef>
                <a:spcPts val="0"/>
              </a:spcBef>
              <a:spcAft>
                <a:spcPts val="0"/>
              </a:spcAft>
              <a:buNone/>
            </a:pPr>
            <a:endParaRPr sz="1800" dirty="0">
              <a:latin typeface="Arial"/>
              <a:ea typeface="Arial"/>
              <a:cs typeface="Arial"/>
              <a:sym typeface="Arial"/>
            </a:endParaRPr>
          </a:p>
          <a:p>
            <a:pPr marL="0" lvl="0" indent="0" algn="l" rtl="0">
              <a:lnSpc>
                <a:spcPct val="115000"/>
              </a:lnSpc>
              <a:spcBef>
                <a:spcPts val="0"/>
              </a:spcBef>
              <a:spcAft>
                <a:spcPts val="0"/>
              </a:spcAft>
              <a:buNone/>
            </a:pPr>
            <a:endParaRPr sz="1800" dirty="0">
              <a:latin typeface="Arial"/>
              <a:ea typeface="Arial"/>
              <a:cs typeface="Arial"/>
              <a:sym typeface="Arial"/>
            </a:endParaRPr>
          </a:p>
          <a:p>
            <a:pPr marL="228600" lvl="0" indent="-285750" algn="l" rtl="0">
              <a:lnSpc>
                <a:spcPct val="115000"/>
              </a:lnSpc>
              <a:spcBef>
                <a:spcPts val="0"/>
              </a:spcBef>
              <a:spcAft>
                <a:spcPts val="0"/>
              </a:spcAft>
              <a:buSzPts val="1800"/>
              <a:buFont typeface="Arial"/>
              <a:buChar char="-"/>
            </a:pPr>
            <a:r>
              <a:rPr lang="en-US" sz="1800" dirty="0">
                <a:latin typeface="Arial"/>
                <a:ea typeface="Arial"/>
                <a:cs typeface="Arial"/>
                <a:sym typeface="Arial"/>
              </a:rPr>
              <a:t>Normal skewness</a:t>
            </a:r>
            <a:endParaRPr sz="1800" dirty="0">
              <a:latin typeface="Arial"/>
              <a:ea typeface="Arial"/>
              <a:cs typeface="Arial"/>
              <a:sym typeface="Arial"/>
            </a:endParaRPr>
          </a:p>
          <a:p>
            <a:pPr marL="228600" lvl="0" indent="-285750" algn="l" rtl="0">
              <a:lnSpc>
                <a:spcPct val="115000"/>
              </a:lnSpc>
              <a:spcBef>
                <a:spcPts val="0"/>
              </a:spcBef>
              <a:spcAft>
                <a:spcPts val="0"/>
              </a:spcAft>
              <a:buSzPts val="1800"/>
              <a:buFont typeface="Arial"/>
              <a:buChar char="-"/>
            </a:pPr>
            <a:r>
              <a:rPr lang="en-US" sz="1800" dirty="0">
                <a:latin typeface="Arial"/>
                <a:ea typeface="Arial"/>
                <a:cs typeface="Arial"/>
                <a:sym typeface="Arial"/>
              </a:rPr>
              <a:t>Normal standard deviation</a:t>
            </a:r>
            <a:endParaRPr sz="1800" dirty="0">
              <a:latin typeface="Arial"/>
              <a:ea typeface="Arial"/>
              <a:cs typeface="Arial"/>
              <a:sym typeface="Arial"/>
            </a:endParaRPr>
          </a:p>
          <a:p>
            <a:pPr marL="228600" lvl="0" indent="-285750" algn="l" rtl="0">
              <a:lnSpc>
                <a:spcPct val="115000"/>
              </a:lnSpc>
              <a:spcBef>
                <a:spcPts val="0"/>
              </a:spcBef>
              <a:spcAft>
                <a:spcPts val="0"/>
              </a:spcAft>
              <a:buSzPts val="1800"/>
              <a:buFont typeface="Arial"/>
              <a:buChar char="-"/>
            </a:pPr>
            <a:r>
              <a:rPr lang="en-US" sz="1800" dirty="0">
                <a:latin typeface="Arial"/>
                <a:ea typeface="Arial"/>
                <a:cs typeface="Arial"/>
                <a:sym typeface="Arial"/>
              </a:rPr>
              <a:t>No missing values</a:t>
            </a:r>
            <a:endParaRPr sz="1800" dirty="0">
              <a:latin typeface="Arial"/>
              <a:ea typeface="Arial"/>
              <a:cs typeface="Arial"/>
              <a:sym typeface="Arial"/>
            </a:endParaRPr>
          </a:p>
          <a:p>
            <a:pPr marL="228600" lvl="0" indent="-285750" algn="l" rtl="0">
              <a:lnSpc>
                <a:spcPct val="115000"/>
              </a:lnSpc>
              <a:spcBef>
                <a:spcPts val="0"/>
              </a:spcBef>
              <a:spcAft>
                <a:spcPts val="0"/>
              </a:spcAft>
              <a:buSzPts val="1800"/>
              <a:buFont typeface="Arial"/>
              <a:buChar char="-"/>
            </a:pPr>
            <a:r>
              <a:rPr lang="en-US" sz="1800" dirty="0">
                <a:latin typeface="Arial"/>
                <a:ea typeface="Arial"/>
                <a:cs typeface="Arial"/>
                <a:sym typeface="Arial"/>
              </a:rPr>
              <a:t>No outliers</a:t>
            </a:r>
            <a:endParaRPr sz="1800" dirty="0">
              <a:latin typeface="Arial"/>
              <a:ea typeface="Arial"/>
              <a:cs typeface="Arial"/>
              <a:sym typeface="Arial"/>
            </a:endParaRPr>
          </a:p>
          <a:p>
            <a:pPr marL="0" lvl="0" indent="0" algn="l" rtl="0">
              <a:lnSpc>
                <a:spcPct val="115000"/>
              </a:lnSpc>
              <a:spcBef>
                <a:spcPts val="1600"/>
              </a:spcBef>
              <a:spcAft>
                <a:spcPts val="400"/>
              </a:spcAft>
              <a:buNone/>
            </a:pPr>
            <a:endParaRPr sz="1800" dirty="0">
              <a:latin typeface="Arial"/>
              <a:ea typeface="Arial"/>
              <a:cs typeface="Arial"/>
              <a:sym typeface="Arial"/>
            </a:endParaRPr>
          </a:p>
        </p:txBody>
      </p:sp>
      <p:sp>
        <p:nvSpPr>
          <p:cNvPr id="220" name="Google Shape;220;p24"/>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12</a:t>
            </a:fld>
            <a:endParaRPr/>
          </a:p>
        </p:txBody>
      </p:sp>
      <p:pic>
        <p:nvPicPr>
          <p:cNvPr id="221" name="Google Shape;221;p24"/>
          <p:cNvPicPr preferRelativeResize="0"/>
          <p:nvPr/>
        </p:nvPicPr>
        <p:blipFill>
          <a:blip r:embed="rId3">
            <a:alphaModFix/>
          </a:blip>
          <a:stretch>
            <a:fillRect/>
          </a:stretch>
        </p:blipFill>
        <p:spPr>
          <a:xfrm>
            <a:off x="4043918" y="1166320"/>
            <a:ext cx="6735619" cy="2656375"/>
          </a:xfrm>
          <a:prstGeom prst="rect">
            <a:avLst/>
          </a:prstGeom>
          <a:noFill/>
          <a:ln w="9525" cap="flat" cmpd="sng">
            <a:solidFill>
              <a:srgbClr val="000000"/>
            </a:solidFill>
            <a:prstDash val="solid"/>
            <a:round/>
            <a:headEnd type="none" w="sm" len="sm"/>
            <a:tailEnd type="none" w="sm" len="sm"/>
          </a:ln>
        </p:spPr>
      </p:pic>
      <p:sp>
        <p:nvSpPr>
          <p:cNvPr id="222" name="Google Shape;222;p24"/>
          <p:cNvSpPr txBox="1">
            <a:spLocks noGrp="1"/>
          </p:cNvSpPr>
          <p:nvPr>
            <p:ph type="title"/>
          </p:nvPr>
        </p:nvSpPr>
        <p:spPr>
          <a:xfrm>
            <a:off x="425175" y="266725"/>
            <a:ext cx="10420800" cy="748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Data Exploration after Data Preprocessing</a:t>
            </a:r>
            <a:endParaRPr dirty="0"/>
          </a:p>
        </p:txBody>
      </p:sp>
      <p:pic>
        <p:nvPicPr>
          <p:cNvPr id="223" name="Google Shape;223;p24"/>
          <p:cNvPicPr preferRelativeResize="0"/>
          <p:nvPr/>
        </p:nvPicPr>
        <p:blipFill rotWithShape="1">
          <a:blip r:embed="rId4">
            <a:alphaModFix/>
          </a:blip>
          <a:srcRect t="19698"/>
          <a:stretch/>
        </p:blipFill>
        <p:spPr>
          <a:xfrm>
            <a:off x="2536950" y="4065075"/>
            <a:ext cx="8309025" cy="2656375"/>
          </a:xfrm>
          <a:prstGeom prst="rect">
            <a:avLst/>
          </a:prstGeom>
          <a:noFill/>
          <a:ln w="9525" cap="flat" cmpd="sng">
            <a:solidFill>
              <a:srgbClr val="000000"/>
            </a:solidFill>
            <a:prstDash val="solid"/>
            <a:round/>
            <a:headEnd type="none" w="sm" len="sm"/>
            <a:tailEnd type="none" w="sm" len="sm"/>
          </a:ln>
        </p:spPr>
      </p:pic>
      <p:sp>
        <p:nvSpPr>
          <p:cNvPr id="224" name="Google Shape;224;p24"/>
          <p:cNvSpPr/>
          <p:nvPr/>
        </p:nvSpPr>
        <p:spPr>
          <a:xfrm rot="5400000">
            <a:off x="2791148" y="1833649"/>
            <a:ext cx="809204" cy="1317600"/>
          </a:xfrm>
          <a:prstGeom prst="bentUpArrow">
            <a:avLst>
              <a:gd name="adj1" fmla="val 8566"/>
              <a:gd name="adj2" fmla="val 12144"/>
              <a:gd name="adj3" fmla="val 25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4"/>
          <p:cNvSpPr/>
          <p:nvPr/>
        </p:nvSpPr>
        <p:spPr>
          <a:xfrm rot="5400000">
            <a:off x="956650" y="4625975"/>
            <a:ext cx="1286100" cy="1317600"/>
          </a:xfrm>
          <a:prstGeom prst="bentUpArrow">
            <a:avLst>
              <a:gd name="adj1" fmla="val 8566"/>
              <a:gd name="adj2" fmla="val 12144"/>
              <a:gd name="adj3" fmla="val 2500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4"/>
          <p:cNvSpPr txBox="1"/>
          <p:nvPr/>
        </p:nvSpPr>
        <p:spPr>
          <a:xfrm>
            <a:off x="435681" y="1053481"/>
            <a:ext cx="3538200" cy="908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0"/>
              </a:spcAft>
              <a:buClr>
                <a:schemeClr val="dk1"/>
              </a:buClr>
              <a:buSzPts val="1100"/>
              <a:buFont typeface="Arial"/>
              <a:buNone/>
            </a:pPr>
            <a:r>
              <a:rPr lang="en-US" sz="1800" dirty="0">
                <a:solidFill>
                  <a:schemeClr val="dk1"/>
                </a:solidFill>
              </a:rPr>
              <a:t>Relationship of the variables with the target variable HDI</a:t>
            </a:r>
            <a:endParaRPr sz="1800" dirty="0">
              <a:solidFill>
                <a:schemeClr val="dk1"/>
              </a:solidFill>
            </a:endParaRPr>
          </a:p>
          <a:p>
            <a:pPr marL="0" lvl="0" indent="0" algn="l" rtl="0">
              <a:spcBef>
                <a:spcPts val="400"/>
              </a:spcBef>
              <a:spcAft>
                <a:spcPts val="0"/>
              </a:spcAft>
              <a:buNone/>
            </a:pPr>
            <a:endParaRPr dirty="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5"/>
          <p:cNvSpPr txBox="1">
            <a:spLocks noGrp="1"/>
          </p:cNvSpPr>
          <p:nvPr>
            <p:ph type="title"/>
          </p:nvPr>
        </p:nvSpPr>
        <p:spPr>
          <a:xfrm>
            <a:off x="457725" y="203825"/>
            <a:ext cx="10420800" cy="522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Cluster Analysis</a:t>
            </a:r>
            <a:endParaRPr/>
          </a:p>
        </p:txBody>
      </p:sp>
      <p:sp>
        <p:nvSpPr>
          <p:cNvPr id="233" name="Google Shape;233;p25"/>
          <p:cNvSpPr txBox="1">
            <a:spLocks noGrp="1"/>
          </p:cNvSpPr>
          <p:nvPr>
            <p:ph type="body" idx="1"/>
          </p:nvPr>
        </p:nvSpPr>
        <p:spPr>
          <a:xfrm>
            <a:off x="648400" y="806325"/>
            <a:ext cx="10100100" cy="61584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1800" b="1">
                <a:latin typeface="Arial"/>
                <a:ea typeface="Arial"/>
                <a:cs typeface="Arial"/>
                <a:sym typeface="Arial"/>
              </a:rPr>
              <a:t>Goal:</a:t>
            </a:r>
            <a:r>
              <a:rPr lang="en-US" sz="1800">
                <a:latin typeface="Arial"/>
                <a:ea typeface="Arial"/>
                <a:cs typeface="Arial"/>
                <a:sym typeface="Arial"/>
              </a:rPr>
              <a:t> Identify interesting patterns </a:t>
            </a:r>
            <a:endParaRPr sz="1800">
              <a:latin typeface="Arial"/>
              <a:ea typeface="Arial"/>
              <a:cs typeface="Arial"/>
              <a:sym typeface="Arial"/>
            </a:endParaRPr>
          </a:p>
          <a:p>
            <a:pPr marL="0" lvl="0" indent="0" algn="just" rtl="0">
              <a:lnSpc>
                <a:spcPct val="100000"/>
              </a:lnSpc>
              <a:spcBef>
                <a:spcPts val="0"/>
              </a:spcBef>
              <a:spcAft>
                <a:spcPts val="0"/>
              </a:spcAft>
              <a:buNone/>
            </a:pPr>
            <a:r>
              <a:rPr lang="en-US" sz="1800" b="1">
                <a:latin typeface="Arial"/>
                <a:ea typeface="Arial"/>
                <a:cs typeface="Arial"/>
                <a:sym typeface="Arial"/>
              </a:rPr>
              <a:t>Settings:</a:t>
            </a:r>
            <a:endParaRPr sz="1800" b="1">
              <a:latin typeface="Arial"/>
              <a:ea typeface="Arial"/>
              <a:cs typeface="Arial"/>
              <a:sym typeface="Arial"/>
            </a:endParaRPr>
          </a:p>
          <a:p>
            <a:pPr marL="457200" lvl="0" indent="-342900" algn="just" rtl="0">
              <a:lnSpc>
                <a:spcPct val="100000"/>
              </a:lnSpc>
              <a:spcBef>
                <a:spcPts val="0"/>
              </a:spcBef>
              <a:spcAft>
                <a:spcPts val="0"/>
              </a:spcAft>
              <a:buSzPts val="1800"/>
              <a:buFont typeface="Arial"/>
              <a:buChar char="•"/>
            </a:pPr>
            <a:r>
              <a:rPr lang="en-US" sz="1800" u="sng">
                <a:latin typeface="Arial"/>
                <a:ea typeface="Arial"/>
                <a:cs typeface="Arial"/>
                <a:sym typeface="Arial"/>
              </a:rPr>
              <a:t>3 clusters</a:t>
            </a:r>
            <a:r>
              <a:rPr lang="en-US" sz="1800">
                <a:latin typeface="Arial"/>
                <a:ea typeface="Arial"/>
                <a:cs typeface="Arial"/>
                <a:sym typeface="Arial"/>
              </a:rPr>
              <a:t> were specified</a:t>
            </a:r>
            <a:endParaRPr sz="1800">
              <a:latin typeface="Arial"/>
              <a:ea typeface="Arial"/>
              <a:cs typeface="Arial"/>
              <a:sym typeface="Arial"/>
            </a:endParaRPr>
          </a:p>
          <a:p>
            <a:pPr marL="457200" lvl="0" indent="-342900" algn="just" rtl="0">
              <a:lnSpc>
                <a:spcPct val="100000"/>
              </a:lnSpc>
              <a:spcBef>
                <a:spcPts val="0"/>
              </a:spcBef>
              <a:spcAft>
                <a:spcPts val="0"/>
              </a:spcAft>
              <a:buSzPts val="1800"/>
              <a:buFont typeface="Arial"/>
              <a:buChar char="•"/>
            </a:pPr>
            <a:r>
              <a:rPr lang="en-US" sz="1800">
                <a:latin typeface="Arial"/>
                <a:ea typeface="Arial"/>
                <a:cs typeface="Arial"/>
                <a:sym typeface="Arial"/>
              </a:rPr>
              <a:t>Variables were </a:t>
            </a:r>
            <a:r>
              <a:rPr lang="en-US" sz="1800" u="sng">
                <a:latin typeface="Arial"/>
                <a:ea typeface="Arial"/>
                <a:cs typeface="Arial"/>
                <a:sym typeface="Arial"/>
              </a:rPr>
              <a:t>standardized</a:t>
            </a:r>
            <a:r>
              <a:rPr lang="en-US" sz="1800">
                <a:latin typeface="Arial"/>
                <a:ea typeface="Arial"/>
                <a:cs typeface="Arial"/>
                <a:sym typeface="Arial"/>
              </a:rPr>
              <a:t> </a:t>
            </a:r>
            <a:endParaRPr sz="1800">
              <a:latin typeface="Arial"/>
              <a:ea typeface="Arial"/>
              <a:cs typeface="Arial"/>
              <a:sym typeface="Arial"/>
            </a:endParaRPr>
          </a:p>
          <a:p>
            <a:pPr marL="0" lvl="0" indent="0" algn="just" rtl="0">
              <a:lnSpc>
                <a:spcPct val="100000"/>
              </a:lnSpc>
              <a:spcBef>
                <a:spcPts val="0"/>
              </a:spcBef>
              <a:spcAft>
                <a:spcPts val="0"/>
              </a:spcAft>
              <a:buNone/>
            </a:pPr>
            <a:endParaRPr sz="1800">
              <a:latin typeface="Arial"/>
              <a:ea typeface="Arial"/>
              <a:cs typeface="Arial"/>
              <a:sym typeface="Arial"/>
            </a:endParaRPr>
          </a:p>
          <a:p>
            <a:pPr marL="0" lvl="0" indent="0" algn="just" rtl="0">
              <a:lnSpc>
                <a:spcPct val="100000"/>
              </a:lnSpc>
              <a:spcBef>
                <a:spcPts val="0"/>
              </a:spcBef>
              <a:spcAft>
                <a:spcPts val="0"/>
              </a:spcAft>
              <a:buNone/>
            </a:pPr>
            <a:r>
              <a:rPr lang="en-US" sz="1800">
                <a:latin typeface="Arial"/>
                <a:ea typeface="Arial"/>
                <a:cs typeface="Arial"/>
                <a:sym typeface="Arial"/>
              </a:rPr>
              <a:t>Segment 1 → Underdeveloped countries</a:t>
            </a:r>
            <a:endParaRPr sz="1800">
              <a:latin typeface="Arial"/>
              <a:ea typeface="Arial"/>
              <a:cs typeface="Arial"/>
              <a:sym typeface="Arial"/>
            </a:endParaRPr>
          </a:p>
          <a:p>
            <a:pPr marL="0" lvl="0" indent="0" algn="just" rtl="0">
              <a:lnSpc>
                <a:spcPct val="100000"/>
              </a:lnSpc>
              <a:spcBef>
                <a:spcPts val="0"/>
              </a:spcBef>
              <a:spcAft>
                <a:spcPts val="0"/>
              </a:spcAft>
              <a:buNone/>
            </a:pPr>
            <a:r>
              <a:rPr lang="en-US" sz="1800">
                <a:latin typeface="Arial"/>
                <a:ea typeface="Arial"/>
                <a:cs typeface="Arial"/>
                <a:sym typeface="Arial"/>
              </a:rPr>
              <a:t>Segment 2 → Developed countries</a:t>
            </a:r>
            <a:endParaRPr sz="1800">
              <a:latin typeface="Arial"/>
              <a:ea typeface="Arial"/>
              <a:cs typeface="Arial"/>
              <a:sym typeface="Arial"/>
            </a:endParaRPr>
          </a:p>
          <a:p>
            <a:pPr marL="0" lvl="0" indent="0" algn="just" rtl="0">
              <a:lnSpc>
                <a:spcPct val="100000"/>
              </a:lnSpc>
              <a:spcBef>
                <a:spcPts val="0"/>
              </a:spcBef>
              <a:spcAft>
                <a:spcPts val="0"/>
              </a:spcAft>
              <a:buNone/>
            </a:pPr>
            <a:r>
              <a:rPr lang="en-US" sz="1800">
                <a:latin typeface="Arial"/>
                <a:ea typeface="Arial"/>
                <a:cs typeface="Arial"/>
                <a:sym typeface="Arial"/>
              </a:rPr>
              <a:t>Segment 3 → Developing countries</a:t>
            </a:r>
            <a:endParaRPr sz="1800">
              <a:latin typeface="Arial"/>
              <a:ea typeface="Arial"/>
              <a:cs typeface="Arial"/>
              <a:sym typeface="Arial"/>
            </a:endParaRPr>
          </a:p>
          <a:p>
            <a:pPr marL="0" lvl="0" indent="0" algn="just" rtl="0">
              <a:lnSpc>
                <a:spcPct val="100000"/>
              </a:lnSpc>
              <a:spcBef>
                <a:spcPts val="0"/>
              </a:spcBef>
              <a:spcAft>
                <a:spcPts val="0"/>
              </a:spcAft>
              <a:buNone/>
            </a:pPr>
            <a:endParaRPr sz="1100">
              <a:latin typeface="Arial"/>
              <a:ea typeface="Arial"/>
              <a:cs typeface="Arial"/>
              <a:sym typeface="Arial"/>
            </a:endParaRPr>
          </a:p>
          <a:p>
            <a:pPr marL="0" lvl="0" indent="0" algn="just" rtl="0">
              <a:lnSpc>
                <a:spcPct val="100000"/>
              </a:lnSpc>
              <a:spcBef>
                <a:spcPts val="0"/>
              </a:spcBef>
              <a:spcAft>
                <a:spcPts val="0"/>
              </a:spcAft>
              <a:buNone/>
            </a:pPr>
            <a:endParaRPr sz="1100">
              <a:latin typeface="Arial"/>
              <a:ea typeface="Arial"/>
              <a:cs typeface="Arial"/>
              <a:sym typeface="Arial"/>
            </a:endParaRPr>
          </a:p>
          <a:p>
            <a:pPr marL="0" lvl="0" indent="0" algn="just" rtl="0">
              <a:lnSpc>
                <a:spcPct val="100000"/>
              </a:lnSpc>
              <a:spcBef>
                <a:spcPts val="0"/>
              </a:spcBef>
              <a:spcAft>
                <a:spcPts val="0"/>
              </a:spcAft>
              <a:buNone/>
            </a:pPr>
            <a:endParaRPr sz="1100">
              <a:latin typeface="Arial"/>
              <a:ea typeface="Arial"/>
              <a:cs typeface="Arial"/>
              <a:sym typeface="Arial"/>
            </a:endParaRPr>
          </a:p>
          <a:p>
            <a:pPr marL="0" lvl="0" indent="0" algn="just" rtl="0">
              <a:lnSpc>
                <a:spcPct val="100000"/>
              </a:lnSpc>
              <a:spcBef>
                <a:spcPts val="0"/>
              </a:spcBef>
              <a:spcAft>
                <a:spcPts val="0"/>
              </a:spcAft>
              <a:buNone/>
            </a:pPr>
            <a:endParaRPr sz="1100">
              <a:latin typeface="Arial"/>
              <a:ea typeface="Arial"/>
              <a:cs typeface="Arial"/>
              <a:sym typeface="Arial"/>
            </a:endParaRPr>
          </a:p>
          <a:p>
            <a:pPr marL="0" lvl="0" indent="0" algn="just" rtl="0">
              <a:lnSpc>
                <a:spcPct val="100000"/>
              </a:lnSpc>
              <a:spcBef>
                <a:spcPts val="0"/>
              </a:spcBef>
              <a:spcAft>
                <a:spcPts val="0"/>
              </a:spcAft>
              <a:buNone/>
            </a:pPr>
            <a:endParaRPr sz="1100">
              <a:latin typeface="Arial"/>
              <a:ea typeface="Arial"/>
              <a:cs typeface="Arial"/>
              <a:sym typeface="Arial"/>
            </a:endParaRPr>
          </a:p>
          <a:p>
            <a:pPr marL="0" lvl="0" indent="0" algn="just" rtl="0">
              <a:lnSpc>
                <a:spcPct val="100000"/>
              </a:lnSpc>
              <a:spcBef>
                <a:spcPts val="0"/>
              </a:spcBef>
              <a:spcAft>
                <a:spcPts val="0"/>
              </a:spcAft>
              <a:buClr>
                <a:schemeClr val="dk1"/>
              </a:buClr>
              <a:buSzPts val="1100"/>
              <a:buFont typeface="Arial"/>
              <a:buNone/>
            </a:pPr>
            <a:endParaRPr sz="1100">
              <a:latin typeface="Arial"/>
              <a:ea typeface="Arial"/>
              <a:cs typeface="Arial"/>
              <a:sym typeface="Arial"/>
            </a:endParaRPr>
          </a:p>
        </p:txBody>
      </p:sp>
      <p:sp>
        <p:nvSpPr>
          <p:cNvPr id="234" name="Google Shape;234;p25"/>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13</a:t>
            </a:fld>
            <a:endParaRPr/>
          </a:p>
        </p:txBody>
      </p:sp>
      <p:pic>
        <p:nvPicPr>
          <p:cNvPr id="235" name="Google Shape;235;p25"/>
          <p:cNvPicPr preferRelativeResize="0"/>
          <p:nvPr/>
        </p:nvPicPr>
        <p:blipFill rotWithShape="1">
          <a:blip r:embed="rId3">
            <a:alphaModFix/>
          </a:blip>
          <a:srcRect l="25634" t="12395" r="19226"/>
          <a:stretch/>
        </p:blipFill>
        <p:spPr>
          <a:xfrm>
            <a:off x="6359025" y="890938"/>
            <a:ext cx="2778425" cy="2482312"/>
          </a:xfrm>
          <a:prstGeom prst="rect">
            <a:avLst/>
          </a:prstGeom>
          <a:noFill/>
          <a:ln w="9525" cap="flat" cmpd="sng">
            <a:solidFill>
              <a:srgbClr val="000000"/>
            </a:solidFill>
            <a:prstDash val="solid"/>
            <a:round/>
            <a:headEnd type="none" w="sm" len="sm"/>
            <a:tailEnd type="none" w="sm" len="sm"/>
          </a:ln>
        </p:spPr>
      </p:pic>
      <p:pic>
        <p:nvPicPr>
          <p:cNvPr id="236" name="Google Shape;236;p25"/>
          <p:cNvPicPr preferRelativeResize="0"/>
          <p:nvPr/>
        </p:nvPicPr>
        <p:blipFill rotWithShape="1">
          <a:blip r:embed="rId4">
            <a:alphaModFix/>
          </a:blip>
          <a:srcRect l="18910"/>
          <a:stretch/>
        </p:blipFill>
        <p:spPr>
          <a:xfrm>
            <a:off x="1166375" y="3498738"/>
            <a:ext cx="8538876" cy="1467600"/>
          </a:xfrm>
          <a:prstGeom prst="rect">
            <a:avLst/>
          </a:prstGeom>
          <a:noFill/>
          <a:ln w="9525" cap="flat" cmpd="sng">
            <a:solidFill>
              <a:srgbClr val="000000"/>
            </a:solidFill>
            <a:prstDash val="solid"/>
            <a:round/>
            <a:headEnd type="none" w="sm" len="sm"/>
            <a:tailEnd type="none" w="sm" len="sm"/>
          </a:ln>
        </p:spPr>
      </p:pic>
      <p:pic>
        <p:nvPicPr>
          <p:cNvPr id="237" name="Google Shape;237;p25"/>
          <p:cNvPicPr preferRelativeResize="0"/>
          <p:nvPr/>
        </p:nvPicPr>
        <p:blipFill>
          <a:blip r:embed="rId5">
            <a:alphaModFix/>
          </a:blip>
          <a:stretch>
            <a:fillRect/>
          </a:stretch>
        </p:blipFill>
        <p:spPr>
          <a:xfrm>
            <a:off x="1166375" y="5091850"/>
            <a:ext cx="8538875" cy="16447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6"/>
          <p:cNvSpPr txBox="1">
            <a:spLocks noGrp="1"/>
          </p:cNvSpPr>
          <p:nvPr>
            <p:ph type="title"/>
          </p:nvPr>
        </p:nvSpPr>
        <p:spPr>
          <a:xfrm>
            <a:off x="461319" y="365125"/>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US">
                <a:solidFill>
                  <a:schemeClr val="hlink"/>
                </a:solidFill>
              </a:rPr>
              <a:t>Cluster Analysis (continued)</a:t>
            </a:r>
            <a:endParaRPr/>
          </a:p>
        </p:txBody>
      </p:sp>
      <p:sp>
        <p:nvSpPr>
          <p:cNvPr id="244" name="Google Shape;244;p26"/>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14</a:t>
            </a:fld>
            <a:endParaRPr/>
          </a:p>
        </p:txBody>
      </p:sp>
      <p:pic>
        <p:nvPicPr>
          <p:cNvPr id="245" name="Google Shape;245;p26"/>
          <p:cNvPicPr preferRelativeResize="0"/>
          <p:nvPr/>
        </p:nvPicPr>
        <p:blipFill>
          <a:blip r:embed="rId3">
            <a:alphaModFix/>
          </a:blip>
          <a:stretch>
            <a:fillRect/>
          </a:stretch>
        </p:blipFill>
        <p:spPr>
          <a:xfrm>
            <a:off x="648375" y="1379900"/>
            <a:ext cx="9732650" cy="486295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7"/>
          <p:cNvSpPr txBox="1">
            <a:spLocks noGrp="1"/>
          </p:cNvSpPr>
          <p:nvPr>
            <p:ph type="title"/>
          </p:nvPr>
        </p:nvSpPr>
        <p:spPr>
          <a:xfrm>
            <a:off x="461319" y="2421012"/>
            <a:ext cx="10420800" cy="856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Linear Regression Models:</a:t>
            </a:r>
            <a:endParaRPr dirty="0"/>
          </a:p>
        </p:txBody>
      </p:sp>
      <p:sp>
        <p:nvSpPr>
          <p:cNvPr id="252" name="Google Shape;252;p27"/>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15</a:t>
            </a:fld>
            <a:endParaRPr/>
          </a:p>
        </p:txBody>
      </p:sp>
      <p:pic>
        <p:nvPicPr>
          <p:cNvPr id="253" name="Google Shape;253;p27"/>
          <p:cNvPicPr preferRelativeResize="0"/>
          <p:nvPr/>
        </p:nvPicPr>
        <p:blipFill rotWithShape="1">
          <a:blip r:embed="rId3">
            <a:alphaModFix/>
          </a:blip>
          <a:srcRect t="21079"/>
          <a:stretch/>
        </p:blipFill>
        <p:spPr>
          <a:xfrm>
            <a:off x="723325" y="3508375"/>
            <a:ext cx="9584450" cy="2927425"/>
          </a:xfrm>
          <a:prstGeom prst="rect">
            <a:avLst/>
          </a:prstGeom>
          <a:noFill/>
          <a:ln w="9525" cap="flat" cmpd="sng">
            <a:solidFill>
              <a:srgbClr val="000000"/>
            </a:solidFill>
            <a:prstDash val="solid"/>
            <a:round/>
            <a:headEnd type="none" w="sm" len="sm"/>
            <a:tailEnd type="none" w="sm" len="sm"/>
          </a:ln>
        </p:spPr>
      </p:pic>
      <p:sp>
        <p:nvSpPr>
          <p:cNvPr id="254" name="Google Shape;254;p27"/>
          <p:cNvSpPr txBox="1">
            <a:spLocks noGrp="1"/>
          </p:cNvSpPr>
          <p:nvPr>
            <p:ph type="body" idx="1"/>
          </p:nvPr>
        </p:nvSpPr>
        <p:spPr>
          <a:xfrm>
            <a:off x="461319" y="2983925"/>
            <a:ext cx="9367200" cy="7314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sz="1800" dirty="0">
                <a:latin typeface="Arial"/>
                <a:ea typeface="Arial"/>
                <a:cs typeface="Arial"/>
                <a:sym typeface="Arial"/>
              </a:rPr>
              <a:t>Settings: Linear, Stepwise, Validation Error </a:t>
            </a:r>
            <a:endParaRPr sz="1800" dirty="0">
              <a:latin typeface="Arial"/>
              <a:ea typeface="Arial"/>
              <a:cs typeface="Arial"/>
              <a:sym typeface="Arial"/>
            </a:endParaRPr>
          </a:p>
        </p:txBody>
      </p:sp>
      <p:sp>
        <p:nvSpPr>
          <p:cNvPr id="255" name="Google Shape;255;p27"/>
          <p:cNvSpPr txBox="1">
            <a:spLocks noGrp="1"/>
          </p:cNvSpPr>
          <p:nvPr>
            <p:ph type="title"/>
          </p:nvPr>
        </p:nvSpPr>
        <p:spPr>
          <a:xfrm>
            <a:off x="461319" y="0"/>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Data Partition </a:t>
            </a:r>
            <a:endParaRPr/>
          </a:p>
        </p:txBody>
      </p:sp>
      <p:sp>
        <p:nvSpPr>
          <p:cNvPr id="256" name="Google Shape;256;p27"/>
          <p:cNvSpPr txBox="1"/>
          <p:nvPr/>
        </p:nvSpPr>
        <p:spPr>
          <a:xfrm>
            <a:off x="626200" y="883625"/>
            <a:ext cx="8487900" cy="1461900"/>
          </a:xfrm>
          <a:prstGeom prst="rect">
            <a:avLst/>
          </a:prstGeom>
          <a:noFill/>
          <a:ln>
            <a:noFill/>
          </a:ln>
        </p:spPr>
        <p:txBody>
          <a:bodyPr spcFirstLastPara="1" wrap="square" lIns="91425" tIns="91425" rIns="91425" bIns="91425" anchor="t" anchorCtr="0">
            <a:noAutofit/>
          </a:bodyPr>
          <a:lstStyle/>
          <a:p>
            <a:pPr marL="457200" lvl="0" indent="0" algn="just" rtl="0">
              <a:spcBef>
                <a:spcPts val="0"/>
              </a:spcBef>
              <a:spcAft>
                <a:spcPts val="0"/>
              </a:spcAft>
              <a:buNone/>
            </a:pPr>
            <a:r>
              <a:rPr lang="en-US" sz="1800">
                <a:solidFill>
                  <a:schemeClr val="dk1"/>
                </a:solidFill>
              </a:rPr>
              <a:t>60/20/20 → </a:t>
            </a:r>
            <a:r>
              <a:rPr lang="en-US" sz="1800">
                <a:solidFill>
                  <a:srgbClr val="0000FF"/>
                </a:solidFill>
              </a:rPr>
              <a:t>Linear Regression 1 and 3 </a:t>
            </a:r>
            <a:r>
              <a:rPr lang="en-US" sz="1800">
                <a:solidFill>
                  <a:schemeClr val="dk1"/>
                </a:solidFill>
              </a:rPr>
              <a:t> &amp;  </a:t>
            </a:r>
            <a:r>
              <a:rPr lang="en-US" sz="1800">
                <a:solidFill>
                  <a:srgbClr val="A64D79"/>
                </a:solidFill>
              </a:rPr>
              <a:t>Regression Tree 1 and 3</a:t>
            </a:r>
            <a:endParaRPr sz="1800">
              <a:solidFill>
                <a:srgbClr val="A64D79"/>
              </a:solidFill>
            </a:endParaRPr>
          </a:p>
          <a:p>
            <a:pPr marL="457200" lvl="0" indent="0" algn="just" rtl="0">
              <a:spcBef>
                <a:spcPts val="0"/>
              </a:spcBef>
              <a:spcAft>
                <a:spcPts val="0"/>
              </a:spcAft>
              <a:buNone/>
            </a:pPr>
            <a:r>
              <a:rPr lang="en-US" sz="1800">
                <a:solidFill>
                  <a:schemeClr val="dk1"/>
                </a:solidFill>
              </a:rPr>
              <a:t> </a:t>
            </a:r>
            <a:endParaRPr sz="1800">
              <a:solidFill>
                <a:schemeClr val="dk1"/>
              </a:solidFill>
            </a:endParaRPr>
          </a:p>
          <a:p>
            <a:pPr marL="457200" lvl="0" indent="0" algn="just" rtl="0">
              <a:spcBef>
                <a:spcPts val="0"/>
              </a:spcBef>
              <a:spcAft>
                <a:spcPts val="0"/>
              </a:spcAft>
              <a:buNone/>
            </a:pPr>
            <a:r>
              <a:rPr lang="en-US" sz="1800">
                <a:solidFill>
                  <a:schemeClr val="dk1"/>
                </a:solidFill>
              </a:rPr>
              <a:t>30/40/30 → </a:t>
            </a:r>
            <a:r>
              <a:rPr lang="en-US" sz="1800">
                <a:solidFill>
                  <a:srgbClr val="0000FF"/>
                </a:solidFill>
              </a:rPr>
              <a:t>Linear Regression 2 and 4</a:t>
            </a:r>
            <a:r>
              <a:rPr lang="en-US" sz="1800">
                <a:solidFill>
                  <a:schemeClr val="dk1"/>
                </a:solidFill>
              </a:rPr>
              <a:t>  &amp;</a:t>
            </a:r>
            <a:r>
              <a:rPr lang="en-US" sz="1800">
                <a:solidFill>
                  <a:srgbClr val="A64D79"/>
                </a:solidFill>
              </a:rPr>
              <a:t>  Regression Tree 2 and 4</a:t>
            </a:r>
            <a:endParaRPr sz="1800">
              <a:solidFill>
                <a:srgbClr val="A64D79"/>
              </a:solidFill>
            </a:endParaRPr>
          </a:p>
          <a:p>
            <a:pPr marL="457200" lvl="0" indent="0" algn="just" rtl="0">
              <a:spcBef>
                <a:spcPts val="0"/>
              </a:spcBef>
              <a:spcAft>
                <a:spcPts val="0"/>
              </a:spcAft>
              <a:buNone/>
            </a:pPr>
            <a:endParaRPr sz="1800">
              <a:solidFill>
                <a:srgbClr val="A64D79"/>
              </a:solidFill>
            </a:endParaRPr>
          </a:p>
          <a:p>
            <a:pPr marL="457200" lvl="0" indent="0" algn="just" rtl="0">
              <a:spcBef>
                <a:spcPts val="0"/>
              </a:spcBef>
              <a:spcAft>
                <a:spcPts val="0"/>
              </a:spcAft>
              <a:buNone/>
            </a:pPr>
            <a:r>
              <a:rPr lang="en-US" sz="1800"/>
              <a:t>Partitioning Method: Simple Random</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8"/>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16</a:t>
            </a:fld>
            <a:endParaRPr/>
          </a:p>
        </p:txBody>
      </p:sp>
      <p:sp>
        <p:nvSpPr>
          <p:cNvPr id="263" name="Google Shape;263;p28"/>
          <p:cNvSpPr txBox="1">
            <a:spLocks noGrp="1"/>
          </p:cNvSpPr>
          <p:nvPr>
            <p:ph type="title"/>
          </p:nvPr>
        </p:nvSpPr>
        <p:spPr>
          <a:xfrm>
            <a:off x="415044" y="152400"/>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pPr>
            <a:r>
              <a:rPr lang="en-US">
                <a:solidFill>
                  <a:schemeClr val="hlink"/>
                </a:solidFill>
              </a:rPr>
              <a:t>Results: Linear Regression Models</a:t>
            </a:r>
            <a:endParaRPr/>
          </a:p>
        </p:txBody>
      </p:sp>
      <p:pic>
        <p:nvPicPr>
          <p:cNvPr id="264" name="Google Shape;264;p28"/>
          <p:cNvPicPr preferRelativeResize="0"/>
          <p:nvPr/>
        </p:nvPicPr>
        <p:blipFill>
          <a:blip r:embed="rId3">
            <a:alphaModFix/>
          </a:blip>
          <a:stretch>
            <a:fillRect/>
          </a:stretch>
        </p:blipFill>
        <p:spPr>
          <a:xfrm>
            <a:off x="415050" y="1367125"/>
            <a:ext cx="10493376" cy="1907225"/>
          </a:xfrm>
          <a:prstGeom prst="rect">
            <a:avLst/>
          </a:prstGeom>
          <a:noFill/>
          <a:ln>
            <a:noFill/>
          </a:ln>
        </p:spPr>
      </p:pic>
      <p:pic>
        <p:nvPicPr>
          <p:cNvPr id="265" name="Google Shape;265;p28"/>
          <p:cNvPicPr preferRelativeResize="0"/>
          <p:nvPr/>
        </p:nvPicPr>
        <p:blipFill>
          <a:blip r:embed="rId4">
            <a:alphaModFix/>
          </a:blip>
          <a:stretch>
            <a:fillRect/>
          </a:stretch>
        </p:blipFill>
        <p:spPr>
          <a:xfrm>
            <a:off x="415050" y="3531200"/>
            <a:ext cx="10493376" cy="3149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9"/>
          <p:cNvSpPr txBox="1">
            <a:spLocks noGrp="1"/>
          </p:cNvSpPr>
          <p:nvPr>
            <p:ph type="title"/>
          </p:nvPr>
        </p:nvSpPr>
        <p:spPr>
          <a:xfrm>
            <a:off x="461319" y="365125"/>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Regression Tree Models Analysis:</a:t>
            </a:r>
            <a:endParaRPr/>
          </a:p>
        </p:txBody>
      </p:sp>
      <p:sp>
        <p:nvSpPr>
          <p:cNvPr id="272" name="Google Shape;272;p29"/>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
        <p:nvSpPr>
          <p:cNvPr id="273" name="Google Shape;273;p29"/>
          <p:cNvSpPr txBox="1">
            <a:spLocks noGrp="1"/>
          </p:cNvSpPr>
          <p:nvPr>
            <p:ph type="body" idx="1"/>
          </p:nvPr>
        </p:nvSpPr>
        <p:spPr>
          <a:xfrm>
            <a:off x="617550" y="1516696"/>
            <a:ext cx="10428000" cy="7314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a:t>Setting: a significance level of 0.2,  Assessment Measure: Average Square Error</a:t>
            </a:r>
            <a:endParaRPr sz="1100">
              <a:latin typeface="Arial"/>
              <a:ea typeface="Arial"/>
              <a:cs typeface="Arial"/>
              <a:sym typeface="Arial"/>
            </a:endParaRPr>
          </a:p>
          <a:p>
            <a:pPr marL="0" lvl="0" indent="0" algn="l" rtl="0">
              <a:spcBef>
                <a:spcPts val="1000"/>
              </a:spcBef>
              <a:spcAft>
                <a:spcPts val="0"/>
              </a:spcAft>
              <a:buNone/>
            </a:pPr>
            <a:r>
              <a:rPr lang="en-US"/>
              <a:t>  </a:t>
            </a:r>
            <a:endParaRPr/>
          </a:p>
        </p:txBody>
      </p:sp>
      <p:pic>
        <p:nvPicPr>
          <p:cNvPr id="274" name="Google Shape;274;p29"/>
          <p:cNvPicPr preferRelativeResize="0"/>
          <p:nvPr/>
        </p:nvPicPr>
        <p:blipFill>
          <a:blip r:embed="rId3">
            <a:alphaModFix/>
          </a:blip>
          <a:stretch>
            <a:fillRect/>
          </a:stretch>
        </p:blipFill>
        <p:spPr>
          <a:xfrm>
            <a:off x="461325" y="2536825"/>
            <a:ext cx="10307000" cy="320447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0"/>
          <p:cNvSpPr txBox="1">
            <a:spLocks noGrp="1"/>
          </p:cNvSpPr>
          <p:nvPr>
            <p:ph type="title"/>
          </p:nvPr>
        </p:nvSpPr>
        <p:spPr>
          <a:xfrm>
            <a:off x="461319" y="-15875"/>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Subtree Assessment Plot: Regression Trees</a:t>
            </a:r>
            <a:endParaRPr/>
          </a:p>
        </p:txBody>
      </p:sp>
      <p:sp>
        <p:nvSpPr>
          <p:cNvPr id="281" name="Google Shape;281;p30"/>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
        <p:nvSpPr>
          <p:cNvPr id="282" name="Google Shape;282;p30"/>
          <p:cNvSpPr txBox="1">
            <a:spLocks noGrp="1"/>
          </p:cNvSpPr>
          <p:nvPr>
            <p:ph type="body" idx="1"/>
          </p:nvPr>
        </p:nvSpPr>
        <p:spPr>
          <a:xfrm>
            <a:off x="617550" y="1516696"/>
            <a:ext cx="10428000" cy="7314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a:t>  </a:t>
            </a:r>
            <a:endParaRPr/>
          </a:p>
        </p:txBody>
      </p:sp>
      <p:graphicFrame>
        <p:nvGraphicFramePr>
          <p:cNvPr id="283" name="Google Shape;283;p30"/>
          <p:cNvGraphicFramePr/>
          <p:nvPr/>
        </p:nvGraphicFramePr>
        <p:xfrm>
          <a:off x="4157525" y="1000338"/>
          <a:ext cx="6555000" cy="2429925"/>
        </p:xfrm>
        <a:graphic>
          <a:graphicData uri="http://schemas.openxmlformats.org/drawingml/2006/table">
            <a:tbl>
              <a:tblPr>
                <a:noFill/>
                <a:tableStyleId>{8EF43105-30C4-4979-AD7D-935C66147BA0}</a:tableStyleId>
              </a:tblPr>
              <a:tblGrid>
                <a:gridCol w="2629300">
                  <a:extLst>
                    <a:ext uri="{9D8B030D-6E8A-4147-A177-3AD203B41FA5}">
                      <a16:colId xmlns:a16="http://schemas.microsoft.com/office/drawing/2014/main" val="20000"/>
                    </a:ext>
                  </a:extLst>
                </a:gridCol>
                <a:gridCol w="1752950">
                  <a:extLst>
                    <a:ext uri="{9D8B030D-6E8A-4147-A177-3AD203B41FA5}">
                      <a16:colId xmlns:a16="http://schemas.microsoft.com/office/drawing/2014/main" val="20001"/>
                    </a:ext>
                  </a:extLst>
                </a:gridCol>
                <a:gridCol w="2172750">
                  <a:extLst>
                    <a:ext uri="{9D8B030D-6E8A-4147-A177-3AD203B41FA5}">
                      <a16:colId xmlns:a16="http://schemas.microsoft.com/office/drawing/2014/main" val="20002"/>
                    </a:ext>
                  </a:extLst>
                </a:gridCol>
              </a:tblGrid>
              <a:tr h="843250">
                <a:tc>
                  <a:txBody>
                    <a:bodyPr/>
                    <a:lstStyle/>
                    <a:p>
                      <a:pPr marL="0" lvl="0" indent="0" algn="ctr" rtl="0">
                        <a:spcBef>
                          <a:spcPts val="0"/>
                        </a:spcBef>
                        <a:spcAft>
                          <a:spcPts val="0"/>
                        </a:spcAft>
                        <a:buNone/>
                      </a:pPr>
                      <a:r>
                        <a:rPr lang="en-US" sz="1200" b="1"/>
                        <a:t>Model</a:t>
                      </a:r>
                      <a:endParaRPr sz="1200" b="1"/>
                    </a:p>
                  </a:txBody>
                  <a:tcPr marL="63500" marR="63500" marT="63500" marB="63500" anchor="ctr">
                    <a:lnB w="12700" cap="flat" cmpd="sng">
                      <a:solidFill>
                        <a:srgbClr val="000000"/>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US" sz="1200" b="1"/>
                        <a:t>Number of leaves</a:t>
                      </a:r>
                      <a:endParaRPr sz="1200" b="1"/>
                    </a:p>
                  </a:txBody>
                  <a:tcPr marL="63500" marR="63500" marT="63500" marB="63500" anchor="ctr">
                    <a:lnB w="12700" cap="flat" cmpd="sng">
                      <a:solidFill>
                        <a:srgbClr val="000000"/>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US" sz="1200" b="1"/>
                        <a:t>Number of important variables</a:t>
                      </a:r>
                      <a:endParaRPr sz="1200" b="1"/>
                    </a:p>
                  </a:txBody>
                  <a:tcPr marL="63500" marR="63500" marT="63500" marB="63500" anchor="ctr">
                    <a:lnB w="12700"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0"/>
                  </a:ext>
                </a:extLst>
              </a:tr>
              <a:tr h="387675">
                <a:tc>
                  <a:txBody>
                    <a:bodyPr/>
                    <a:lstStyle/>
                    <a:p>
                      <a:pPr marL="0" lvl="0" indent="0" algn="ctr" rtl="0">
                        <a:lnSpc>
                          <a:spcPct val="115000"/>
                        </a:lnSpc>
                        <a:spcBef>
                          <a:spcPts val="0"/>
                        </a:spcBef>
                        <a:spcAft>
                          <a:spcPts val="0"/>
                        </a:spcAft>
                        <a:buNone/>
                      </a:pPr>
                      <a:r>
                        <a:rPr lang="en-US" sz="1200">
                          <a:highlight>
                            <a:srgbClr val="FFFFFF"/>
                          </a:highlight>
                        </a:rPr>
                        <a:t>Regression Tree 1</a:t>
                      </a:r>
                      <a:endParaRPr sz="1200">
                        <a:solidFill>
                          <a:srgbClr val="0000FF"/>
                        </a:solidFill>
                        <a:highlight>
                          <a:srgbClr val="FFFFFF"/>
                        </a:highlight>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200"/>
                        <a:t>29</a:t>
                      </a:r>
                      <a:endParaRPr sz="1200"/>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200"/>
                        <a:t>16</a:t>
                      </a:r>
                      <a:endParaRPr sz="1200"/>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7675">
                <a:tc>
                  <a:txBody>
                    <a:bodyPr/>
                    <a:lstStyle/>
                    <a:p>
                      <a:pPr marL="0" lvl="0" indent="0" algn="ctr" rtl="0">
                        <a:lnSpc>
                          <a:spcPct val="115000"/>
                        </a:lnSpc>
                        <a:spcBef>
                          <a:spcPts val="0"/>
                        </a:spcBef>
                        <a:spcAft>
                          <a:spcPts val="0"/>
                        </a:spcAft>
                        <a:buNone/>
                      </a:pPr>
                      <a:r>
                        <a:rPr lang="en-US" sz="1200">
                          <a:solidFill>
                            <a:schemeClr val="dk1"/>
                          </a:solidFill>
                          <a:highlight>
                            <a:srgbClr val="FFFFFF"/>
                          </a:highlight>
                        </a:rPr>
                        <a:t>Regression Tree 2</a:t>
                      </a:r>
                      <a:endParaRPr sz="1200">
                        <a:highlight>
                          <a:srgbClr val="FFFFFF"/>
                        </a:highlight>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200"/>
                        <a:t>10</a:t>
                      </a:r>
                      <a:endParaRPr sz="1200"/>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200"/>
                        <a:t>5</a:t>
                      </a:r>
                      <a:endParaRPr sz="1200"/>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87675">
                <a:tc>
                  <a:txBody>
                    <a:bodyPr/>
                    <a:lstStyle/>
                    <a:p>
                      <a:pPr marL="0" lvl="0" indent="0" algn="ctr" rtl="0">
                        <a:spcBef>
                          <a:spcPts val="0"/>
                        </a:spcBef>
                        <a:spcAft>
                          <a:spcPts val="0"/>
                        </a:spcAft>
                        <a:buNone/>
                      </a:pPr>
                      <a:r>
                        <a:rPr lang="en-US" sz="1200"/>
                        <a:t>Regression Tree 3</a:t>
                      </a:r>
                      <a:endParaRPr sz="1200"/>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200"/>
                        <a:t>20</a:t>
                      </a:r>
                      <a:endParaRPr sz="1200"/>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200"/>
                        <a:t>7</a:t>
                      </a:r>
                      <a:endParaRPr sz="1200"/>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23650">
                <a:tc>
                  <a:txBody>
                    <a:bodyPr/>
                    <a:lstStyle/>
                    <a:p>
                      <a:pPr marL="0" lvl="0" indent="0" algn="ctr" rtl="0">
                        <a:spcBef>
                          <a:spcPts val="0"/>
                        </a:spcBef>
                        <a:spcAft>
                          <a:spcPts val="0"/>
                        </a:spcAft>
                        <a:buNone/>
                      </a:pPr>
                      <a:r>
                        <a:rPr lang="en-US" sz="1200">
                          <a:highlight>
                            <a:srgbClr val="FFFFFF"/>
                          </a:highlight>
                        </a:rPr>
                        <a:t>Regression Tree 4</a:t>
                      </a:r>
                      <a:endParaRPr sz="1200">
                        <a:highlight>
                          <a:srgbClr val="FFFFFF"/>
                        </a:highlight>
                      </a:endParaRPr>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200"/>
                        <a:t>16</a:t>
                      </a:r>
                      <a:endParaRPr sz="1200"/>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US" sz="1200"/>
                        <a:t>8</a:t>
                      </a:r>
                      <a:endParaRPr sz="1200"/>
                    </a:p>
                  </a:txBody>
                  <a:tcPr marL="63500" marR="63500" marT="63500" marB="63500"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284" name="Google Shape;284;p30"/>
          <p:cNvPicPr preferRelativeResize="0"/>
          <p:nvPr/>
        </p:nvPicPr>
        <p:blipFill>
          <a:blip r:embed="rId3">
            <a:alphaModFix/>
          </a:blip>
          <a:stretch>
            <a:fillRect/>
          </a:stretch>
        </p:blipFill>
        <p:spPr>
          <a:xfrm>
            <a:off x="689550" y="1000375"/>
            <a:ext cx="3233225" cy="2465875"/>
          </a:xfrm>
          <a:prstGeom prst="rect">
            <a:avLst/>
          </a:prstGeom>
          <a:noFill/>
          <a:ln>
            <a:noFill/>
          </a:ln>
        </p:spPr>
      </p:pic>
      <p:pic>
        <p:nvPicPr>
          <p:cNvPr id="285" name="Google Shape;285;p30"/>
          <p:cNvPicPr preferRelativeResize="0"/>
          <p:nvPr/>
        </p:nvPicPr>
        <p:blipFill>
          <a:blip r:embed="rId4">
            <a:alphaModFix/>
          </a:blip>
          <a:stretch>
            <a:fillRect/>
          </a:stretch>
        </p:blipFill>
        <p:spPr>
          <a:xfrm>
            <a:off x="689550" y="3651525"/>
            <a:ext cx="3233225" cy="3027075"/>
          </a:xfrm>
          <a:prstGeom prst="rect">
            <a:avLst/>
          </a:prstGeom>
          <a:noFill/>
          <a:ln>
            <a:noFill/>
          </a:ln>
        </p:spPr>
      </p:pic>
      <p:pic>
        <p:nvPicPr>
          <p:cNvPr id="286" name="Google Shape;286;p30"/>
          <p:cNvPicPr preferRelativeResize="0"/>
          <p:nvPr/>
        </p:nvPicPr>
        <p:blipFill>
          <a:blip r:embed="rId5">
            <a:alphaModFix/>
          </a:blip>
          <a:stretch>
            <a:fillRect/>
          </a:stretch>
        </p:blipFill>
        <p:spPr>
          <a:xfrm>
            <a:off x="4157525" y="3651525"/>
            <a:ext cx="3233225" cy="3027075"/>
          </a:xfrm>
          <a:prstGeom prst="rect">
            <a:avLst/>
          </a:prstGeom>
          <a:noFill/>
          <a:ln>
            <a:noFill/>
          </a:ln>
        </p:spPr>
      </p:pic>
      <p:pic>
        <p:nvPicPr>
          <p:cNvPr id="287" name="Google Shape;287;p30"/>
          <p:cNvPicPr preferRelativeResize="0"/>
          <p:nvPr/>
        </p:nvPicPr>
        <p:blipFill>
          <a:blip r:embed="rId6">
            <a:alphaModFix/>
          </a:blip>
          <a:stretch>
            <a:fillRect/>
          </a:stretch>
        </p:blipFill>
        <p:spPr>
          <a:xfrm>
            <a:off x="7580616" y="3651525"/>
            <a:ext cx="3131909" cy="3027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1"/>
          <p:cNvSpPr txBox="1">
            <a:spLocks noGrp="1"/>
          </p:cNvSpPr>
          <p:nvPr>
            <p:ph type="title"/>
          </p:nvPr>
        </p:nvSpPr>
        <p:spPr>
          <a:xfrm>
            <a:off x="457669" y="190500"/>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Model Comparison &amp; Selection</a:t>
            </a:r>
            <a:endParaRPr/>
          </a:p>
        </p:txBody>
      </p:sp>
      <p:sp>
        <p:nvSpPr>
          <p:cNvPr id="294" name="Google Shape;294;p31"/>
          <p:cNvSpPr txBox="1">
            <a:spLocks noGrp="1"/>
          </p:cNvSpPr>
          <p:nvPr>
            <p:ph type="body" idx="1"/>
          </p:nvPr>
        </p:nvSpPr>
        <p:spPr>
          <a:xfrm>
            <a:off x="454075" y="1198250"/>
            <a:ext cx="10428000" cy="5328300"/>
          </a:xfrm>
          <a:prstGeom prst="rect">
            <a:avLst/>
          </a:prstGeom>
        </p:spPr>
        <p:txBody>
          <a:bodyPr spcFirstLastPara="1" wrap="square" lIns="91425" tIns="45700" rIns="91425" bIns="45700" anchor="t" anchorCtr="0">
            <a:noAutofit/>
          </a:bodyPr>
          <a:lstStyle/>
          <a:p>
            <a:pPr marL="0" lvl="0" indent="0" algn="l" rtl="0">
              <a:spcBef>
                <a:spcPts val="1000"/>
              </a:spcBef>
              <a:spcAft>
                <a:spcPts val="0"/>
              </a:spcAft>
              <a:buNone/>
            </a:pPr>
            <a:r>
              <a:rPr lang="en-US" b="1" u="sng"/>
              <a:t> Selected model: Regression Tree 3 </a:t>
            </a:r>
            <a:r>
              <a:rPr lang="en-US" b="1"/>
              <a:t>               </a:t>
            </a:r>
            <a:r>
              <a:rPr lang="en-US" b="1" u="sng"/>
              <a:t>Selection Criteria</a:t>
            </a:r>
            <a:r>
              <a:rPr lang="en-US"/>
              <a:t>						</a:t>
            </a: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p:txBody>
      </p:sp>
      <p:sp>
        <p:nvSpPr>
          <p:cNvPr id="295" name="Google Shape;295;p31"/>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19</a:t>
            </a:fld>
            <a:endParaRPr/>
          </a:p>
        </p:txBody>
      </p:sp>
      <p:graphicFrame>
        <p:nvGraphicFramePr>
          <p:cNvPr id="296" name="Google Shape;296;p31"/>
          <p:cNvGraphicFramePr/>
          <p:nvPr/>
        </p:nvGraphicFramePr>
        <p:xfrm>
          <a:off x="5649000" y="1862288"/>
          <a:ext cx="5127750" cy="4664225"/>
        </p:xfrm>
        <a:graphic>
          <a:graphicData uri="http://schemas.openxmlformats.org/drawingml/2006/table">
            <a:tbl>
              <a:tblPr>
                <a:noFill/>
                <a:tableStyleId>{8EF43105-30C4-4979-AD7D-935C66147BA0}</a:tableStyleId>
              </a:tblPr>
              <a:tblGrid>
                <a:gridCol w="1895850">
                  <a:extLst>
                    <a:ext uri="{9D8B030D-6E8A-4147-A177-3AD203B41FA5}">
                      <a16:colId xmlns:a16="http://schemas.microsoft.com/office/drawing/2014/main" val="20000"/>
                    </a:ext>
                  </a:extLst>
                </a:gridCol>
                <a:gridCol w="1381725">
                  <a:extLst>
                    <a:ext uri="{9D8B030D-6E8A-4147-A177-3AD203B41FA5}">
                      <a16:colId xmlns:a16="http://schemas.microsoft.com/office/drawing/2014/main" val="20001"/>
                    </a:ext>
                  </a:extLst>
                </a:gridCol>
                <a:gridCol w="1850175">
                  <a:extLst>
                    <a:ext uri="{9D8B030D-6E8A-4147-A177-3AD203B41FA5}">
                      <a16:colId xmlns:a16="http://schemas.microsoft.com/office/drawing/2014/main" val="20002"/>
                    </a:ext>
                  </a:extLst>
                </a:gridCol>
              </a:tblGrid>
              <a:tr h="814075">
                <a:tc>
                  <a:txBody>
                    <a:bodyPr/>
                    <a:lstStyle/>
                    <a:p>
                      <a:pPr marL="0" lvl="0" indent="0" algn="ctr" rtl="0">
                        <a:spcBef>
                          <a:spcPts val="0"/>
                        </a:spcBef>
                        <a:spcAft>
                          <a:spcPts val="0"/>
                        </a:spcAft>
                        <a:buNone/>
                      </a:pPr>
                      <a:r>
                        <a:rPr lang="en-US" sz="1200" b="1"/>
                        <a:t>Model</a:t>
                      </a:r>
                      <a:endParaRPr sz="1200" b="1"/>
                    </a:p>
                  </a:txBody>
                  <a:tcPr marL="63500" marR="63500" marT="63500" marB="63500" anchor="ctr">
                    <a:solidFill>
                      <a:srgbClr val="C9DAF8"/>
                    </a:solidFill>
                  </a:tcPr>
                </a:tc>
                <a:tc>
                  <a:txBody>
                    <a:bodyPr/>
                    <a:lstStyle/>
                    <a:p>
                      <a:pPr marL="0" lvl="0" indent="0" algn="l" rtl="0">
                        <a:spcBef>
                          <a:spcPts val="0"/>
                        </a:spcBef>
                        <a:spcAft>
                          <a:spcPts val="0"/>
                        </a:spcAft>
                        <a:buNone/>
                      </a:pPr>
                      <a:r>
                        <a:rPr lang="en-US" sz="1200" b="1"/>
                        <a:t>Validation:  Average Squared Error</a:t>
                      </a:r>
                      <a:endParaRPr sz="1200" b="1"/>
                    </a:p>
                  </a:txBody>
                  <a:tcPr marL="63500" marR="63500" marT="63500" marB="63500" anchor="ctr">
                    <a:solidFill>
                      <a:srgbClr val="C9DAF8"/>
                    </a:solidFill>
                  </a:tcPr>
                </a:tc>
                <a:tc>
                  <a:txBody>
                    <a:bodyPr/>
                    <a:lstStyle/>
                    <a:p>
                      <a:pPr marL="0" lvl="0" indent="0" algn="ctr" rtl="0">
                        <a:spcBef>
                          <a:spcPts val="0"/>
                        </a:spcBef>
                        <a:spcAft>
                          <a:spcPts val="0"/>
                        </a:spcAft>
                        <a:buNone/>
                      </a:pPr>
                      <a:r>
                        <a:rPr lang="en-US" sz="1200" b="1"/>
                        <a:t>Number of significant variables</a:t>
                      </a:r>
                      <a:endParaRPr sz="1200" b="1"/>
                    </a:p>
                  </a:txBody>
                  <a:tcPr marL="63500" marR="63500" marT="63500" marB="63500" anchor="ctr">
                    <a:solidFill>
                      <a:srgbClr val="C9DAF8"/>
                    </a:solidFill>
                  </a:tcPr>
                </a:tc>
                <a:extLst>
                  <a:ext uri="{0D108BD9-81ED-4DB2-BD59-A6C34878D82A}">
                    <a16:rowId xmlns:a16="http://schemas.microsoft.com/office/drawing/2014/main" val="10000"/>
                  </a:ext>
                </a:extLst>
              </a:tr>
              <a:tr h="374250">
                <a:tc>
                  <a:txBody>
                    <a:bodyPr/>
                    <a:lstStyle/>
                    <a:p>
                      <a:pPr marL="0" lvl="0" indent="0" algn="l" rtl="0">
                        <a:spcBef>
                          <a:spcPts val="0"/>
                        </a:spcBef>
                        <a:spcAft>
                          <a:spcPts val="0"/>
                        </a:spcAft>
                        <a:buNone/>
                      </a:pPr>
                      <a:r>
                        <a:rPr lang="en-US" sz="1200" b="1"/>
                        <a:t>Regression Tree 3</a:t>
                      </a:r>
                      <a:endParaRPr sz="1200" b="1"/>
                    </a:p>
                  </a:txBody>
                  <a:tcPr marL="63500" marR="63500" marT="63500" marB="63500"/>
                </a:tc>
                <a:tc>
                  <a:txBody>
                    <a:bodyPr/>
                    <a:lstStyle/>
                    <a:p>
                      <a:pPr marL="0" lvl="0" indent="0" algn="ctr" rtl="0">
                        <a:spcBef>
                          <a:spcPts val="0"/>
                        </a:spcBef>
                        <a:spcAft>
                          <a:spcPts val="0"/>
                        </a:spcAft>
                        <a:buNone/>
                      </a:pPr>
                      <a:r>
                        <a:rPr lang="en-US" sz="1200" b="1"/>
                        <a:t>0.00604</a:t>
                      </a:r>
                      <a:endParaRPr sz="1200" b="1"/>
                    </a:p>
                  </a:txBody>
                  <a:tcPr marL="63500" marR="63500" marT="63500" marB="63500"/>
                </a:tc>
                <a:tc>
                  <a:txBody>
                    <a:bodyPr/>
                    <a:lstStyle/>
                    <a:p>
                      <a:pPr marL="0" lvl="0" indent="0" algn="ctr" rtl="0">
                        <a:spcBef>
                          <a:spcPts val="0"/>
                        </a:spcBef>
                        <a:spcAft>
                          <a:spcPts val="0"/>
                        </a:spcAft>
                        <a:buNone/>
                      </a:pPr>
                      <a:r>
                        <a:rPr lang="en-US" sz="1200" b="1"/>
                        <a:t>7</a:t>
                      </a:r>
                      <a:endParaRPr sz="1200" b="1"/>
                    </a:p>
                  </a:txBody>
                  <a:tcPr marL="63500" marR="63500" marT="63500" marB="63500"/>
                </a:tc>
                <a:extLst>
                  <a:ext uri="{0D108BD9-81ED-4DB2-BD59-A6C34878D82A}">
                    <a16:rowId xmlns:a16="http://schemas.microsoft.com/office/drawing/2014/main" val="10001"/>
                  </a:ext>
                </a:extLst>
              </a:tr>
              <a:tr h="374250">
                <a:tc>
                  <a:txBody>
                    <a:bodyPr/>
                    <a:lstStyle/>
                    <a:p>
                      <a:pPr marL="0" lvl="0" indent="0" algn="l" rtl="0">
                        <a:spcBef>
                          <a:spcPts val="0"/>
                        </a:spcBef>
                        <a:spcAft>
                          <a:spcPts val="0"/>
                        </a:spcAft>
                        <a:buNone/>
                      </a:pPr>
                      <a:r>
                        <a:rPr lang="en-US" sz="1200">
                          <a:highlight>
                            <a:srgbClr val="FFFFFF"/>
                          </a:highlight>
                        </a:rPr>
                        <a:t>Linear Regression 3.2</a:t>
                      </a:r>
                      <a:endParaRPr sz="1200">
                        <a:highlight>
                          <a:srgbClr val="FFFFFF"/>
                        </a:highlight>
                      </a:endParaRPr>
                    </a:p>
                  </a:txBody>
                  <a:tcPr marL="63500" marR="63500" marT="63500" marB="63500"/>
                </a:tc>
                <a:tc>
                  <a:txBody>
                    <a:bodyPr/>
                    <a:lstStyle/>
                    <a:p>
                      <a:pPr marL="0" lvl="0" indent="0" algn="ctr" rtl="0">
                        <a:spcBef>
                          <a:spcPts val="0"/>
                        </a:spcBef>
                        <a:spcAft>
                          <a:spcPts val="0"/>
                        </a:spcAft>
                        <a:buNone/>
                      </a:pPr>
                      <a:r>
                        <a:rPr lang="en-US" sz="1200"/>
                        <a:t>0.00769</a:t>
                      </a:r>
                      <a:endParaRPr sz="1200"/>
                    </a:p>
                  </a:txBody>
                  <a:tcPr marL="63500" marR="63500" marT="63500" marB="63500"/>
                </a:tc>
                <a:tc>
                  <a:txBody>
                    <a:bodyPr/>
                    <a:lstStyle/>
                    <a:p>
                      <a:pPr marL="0" lvl="0" indent="0" algn="ctr" rtl="0">
                        <a:spcBef>
                          <a:spcPts val="0"/>
                        </a:spcBef>
                        <a:spcAft>
                          <a:spcPts val="0"/>
                        </a:spcAft>
                        <a:buNone/>
                      </a:pPr>
                      <a:r>
                        <a:rPr lang="en-US" sz="1200"/>
                        <a:t>4</a:t>
                      </a:r>
                      <a:endParaRPr sz="1200"/>
                    </a:p>
                  </a:txBody>
                  <a:tcPr marL="63500" marR="63500" marT="63500" marB="63500"/>
                </a:tc>
                <a:extLst>
                  <a:ext uri="{0D108BD9-81ED-4DB2-BD59-A6C34878D82A}">
                    <a16:rowId xmlns:a16="http://schemas.microsoft.com/office/drawing/2014/main" val="10002"/>
                  </a:ext>
                </a:extLst>
              </a:tr>
              <a:tr h="377800">
                <a:tc>
                  <a:txBody>
                    <a:bodyPr/>
                    <a:lstStyle/>
                    <a:p>
                      <a:pPr marL="0" lvl="0" indent="0" algn="l" rtl="0">
                        <a:spcBef>
                          <a:spcPts val="0"/>
                        </a:spcBef>
                        <a:spcAft>
                          <a:spcPts val="0"/>
                        </a:spcAft>
                        <a:buNone/>
                      </a:pPr>
                      <a:r>
                        <a:rPr lang="en-US" sz="1200">
                          <a:highlight>
                            <a:srgbClr val="FFFFFF"/>
                          </a:highlight>
                        </a:rPr>
                        <a:t>Linear Regression 3</a:t>
                      </a:r>
                      <a:endParaRPr sz="1200">
                        <a:highlight>
                          <a:srgbClr val="FFFFFF"/>
                        </a:highlight>
                      </a:endParaRPr>
                    </a:p>
                  </a:txBody>
                  <a:tcPr marL="63500" marR="63500" marT="63500" marB="63500"/>
                </a:tc>
                <a:tc>
                  <a:txBody>
                    <a:bodyPr/>
                    <a:lstStyle/>
                    <a:p>
                      <a:pPr marL="0" lvl="0" indent="0" algn="ctr" rtl="0">
                        <a:spcBef>
                          <a:spcPts val="0"/>
                        </a:spcBef>
                        <a:spcAft>
                          <a:spcPts val="0"/>
                        </a:spcAft>
                        <a:buNone/>
                      </a:pPr>
                      <a:r>
                        <a:rPr lang="en-US" sz="1200"/>
                        <a:t>0.00792</a:t>
                      </a:r>
                      <a:endParaRPr sz="1200"/>
                    </a:p>
                  </a:txBody>
                  <a:tcPr marL="63500" marR="63500" marT="63500" marB="63500"/>
                </a:tc>
                <a:tc>
                  <a:txBody>
                    <a:bodyPr/>
                    <a:lstStyle/>
                    <a:p>
                      <a:pPr marL="0" lvl="0" indent="0" algn="ctr" rtl="0">
                        <a:spcBef>
                          <a:spcPts val="0"/>
                        </a:spcBef>
                        <a:spcAft>
                          <a:spcPts val="0"/>
                        </a:spcAft>
                        <a:buNone/>
                      </a:pPr>
                      <a:r>
                        <a:rPr lang="en-US" sz="1200">
                          <a:solidFill>
                            <a:schemeClr val="dk1"/>
                          </a:solidFill>
                        </a:rPr>
                        <a:t>Insignificant</a:t>
                      </a:r>
                      <a:endParaRPr sz="1200"/>
                    </a:p>
                  </a:txBody>
                  <a:tcPr marL="63500" marR="63500" marT="63500" marB="63500"/>
                </a:tc>
                <a:extLst>
                  <a:ext uri="{0D108BD9-81ED-4DB2-BD59-A6C34878D82A}">
                    <a16:rowId xmlns:a16="http://schemas.microsoft.com/office/drawing/2014/main" val="10003"/>
                  </a:ext>
                </a:extLst>
              </a:tr>
              <a:tr h="374250">
                <a:tc>
                  <a:txBody>
                    <a:bodyPr/>
                    <a:lstStyle/>
                    <a:p>
                      <a:pPr marL="0" lvl="0" indent="0" algn="l" rtl="0">
                        <a:spcBef>
                          <a:spcPts val="0"/>
                        </a:spcBef>
                        <a:spcAft>
                          <a:spcPts val="0"/>
                        </a:spcAft>
                        <a:buNone/>
                      </a:pPr>
                      <a:r>
                        <a:rPr lang="en-US" sz="1200">
                          <a:highlight>
                            <a:srgbClr val="FFFFFF"/>
                          </a:highlight>
                        </a:rPr>
                        <a:t>Regression Tree 4</a:t>
                      </a:r>
                      <a:endParaRPr sz="1200">
                        <a:highlight>
                          <a:srgbClr val="FFFFFF"/>
                        </a:highlight>
                      </a:endParaRPr>
                    </a:p>
                  </a:txBody>
                  <a:tcPr marL="63500" marR="63500" marT="63500" marB="63500"/>
                </a:tc>
                <a:tc>
                  <a:txBody>
                    <a:bodyPr/>
                    <a:lstStyle/>
                    <a:p>
                      <a:pPr marL="0" lvl="0" indent="0" algn="ctr" rtl="0">
                        <a:spcBef>
                          <a:spcPts val="0"/>
                        </a:spcBef>
                        <a:spcAft>
                          <a:spcPts val="0"/>
                        </a:spcAft>
                        <a:buNone/>
                      </a:pPr>
                      <a:r>
                        <a:rPr lang="en-US" sz="1200"/>
                        <a:t>0.00924</a:t>
                      </a:r>
                      <a:endParaRPr sz="1200"/>
                    </a:p>
                  </a:txBody>
                  <a:tcPr marL="63500" marR="63500" marT="63500" marB="63500"/>
                </a:tc>
                <a:tc>
                  <a:txBody>
                    <a:bodyPr/>
                    <a:lstStyle/>
                    <a:p>
                      <a:pPr marL="0" lvl="0" indent="0" algn="ctr" rtl="0">
                        <a:spcBef>
                          <a:spcPts val="0"/>
                        </a:spcBef>
                        <a:spcAft>
                          <a:spcPts val="0"/>
                        </a:spcAft>
                        <a:buNone/>
                      </a:pPr>
                      <a:r>
                        <a:rPr lang="en-US" sz="1200"/>
                        <a:t>8</a:t>
                      </a:r>
                      <a:endParaRPr sz="1200"/>
                    </a:p>
                  </a:txBody>
                  <a:tcPr marL="63500" marR="63500" marT="63500" marB="63500"/>
                </a:tc>
                <a:extLst>
                  <a:ext uri="{0D108BD9-81ED-4DB2-BD59-A6C34878D82A}">
                    <a16:rowId xmlns:a16="http://schemas.microsoft.com/office/drawing/2014/main" val="10004"/>
                  </a:ext>
                </a:extLst>
              </a:tr>
              <a:tr h="374250">
                <a:tc>
                  <a:txBody>
                    <a:bodyPr/>
                    <a:lstStyle/>
                    <a:p>
                      <a:pPr marL="0" lvl="0" indent="0" algn="l" rtl="0">
                        <a:spcBef>
                          <a:spcPts val="0"/>
                        </a:spcBef>
                        <a:spcAft>
                          <a:spcPts val="0"/>
                        </a:spcAft>
                        <a:buNone/>
                      </a:pPr>
                      <a:r>
                        <a:rPr lang="en-US" sz="1200">
                          <a:highlight>
                            <a:srgbClr val="FFFFFF"/>
                          </a:highlight>
                        </a:rPr>
                        <a:t>Linear Regression 4.2</a:t>
                      </a:r>
                      <a:endParaRPr sz="1200">
                        <a:highlight>
                          <a:srgbClr val="FFFFFF"/>
                        </a:highlight>
                      </a:endParaRPr>
                    </a:p>
                  </a:txBody>
                  <a:tcPr marL="63500" marR="63500" marT="63500" marB="63500"/>
                </a:tc>
                <a:tc>
                  <a:txBody>
                    <a:bodyPr/>
                    <a:lstStyle/>
                    <a:p>
                      <a:pPr marL="0" lvl="0" indent="0" algn="ctr" rtl="0">
                        <a:spcBef>
                          <a:spcPts val="0"/>
                        </a:spcBef>
                        <a:spcAft>
                          <a:spcPts val="0"/>
                        </a:spcAft>
                        <a:buNone/>
                      </a:pPr>
                      <a:r>
                        <a:rPr lang="en-US" sz="1200"/>
                        <a:t>0.01149</a:t>
                      </a:r>
                      <a:endParaRPr sz="1200"/>
                    </a:p>
                  </a:txBody>
                  <a:tcPr marL="63500" marR="63500" marT="63500" marB="63500"/>
                </a:tc>
                <a:tc>
                  <a:txBody>
                    <a:bodyPr/>
                    <a:lstStyle/>
                    <a:p>
                      <a:pPr marL="0" lvl="0" indent="0" algn="ctr" rtl="0">
                        <a:spcBef>
                          <a:spcPts val="0"/>
                        </a:spcBef>
                        <a:spcAft>
                          <a:spcPts val="0"/>
                        </a:spcAft>
                        <a:buNone/>
                      </a:pPr>
                      <a:r>
                        <a:rPr lang="en-US" sz="1200"/>
                        <a:t>3</a:t>
                      </a:r>
                      <a:endParaRPr sz="1200"/>
                    </a:p>
                  </a:txBody>
                  <a:tcPr marL="63500" marR="63500" marT="63500" marB="63500"/>
                </a:tc>
                <a:extLst>
                  <a:ext uri="{0D108BD9-81ED-4DB2-BD59-A6C34878D82A}">
                    <a16:rowId xmlns:a16="http://schemas.microsoft.com/office/drawing/2014/main" val="10005"/>
                  </a:ext>
                </a:extLst>
              </a:tr>
              <a:tr h="408950">
                <a:tc>
                  <a:txBody>
                    <a:bodyPr/>
                    <a:lstStyle/>
                    <a:p>
                      <a:pPr marL="0" lvl="0" indent="0" algn="l" rtl="0">
                        <a:lnSpc>
                          <a:spcPct val="115000"/>
                        </a:lnSpc>
                        <a:spcBef>
                          <a:spcPts val="0"/>
                        </a:spcBef>
                        <a:spcAft>
                          <a:spcPts val="0"/>
                        </a:spcAft>
                        <a:buNone/>
                      </a:pPr>
                      <a:r>
                        <a:rPr lang="en-US" sz="1200">
                          <a:solidFill>
                            <a:schemeClr val="dk1"/>
                          </a:solidFill>
                          <a:highlight>
                            <a:srgbClr val="FFFFFF"/>
                          </a:highlight>
                        </a:rPr>
                        <a:t>Linear Regression 4</a:t>
                      </a:r>
                      <a:endParaRPr sz="1200">
                        <a:highlight>
                          <a:srgbClr val="FFFFFF"/>
                        </a:highlight>
                      </a:endParaRPr>
                    </a:p>
                  </a:txBody>
                  <a:tcPr marL="63500" marR="63500" marT="63500" marB="63500"/>
                </a:tc>
                <a:tc>
                  <a:txBody>
                    <a:bodyPr/>
                    <a:lstStyle/>
                    <a:p>
                      <a:pPr marL="0" lvl="0" indent="0" algn="ctr" rtl="0">
                        <a:spcBef>
                          <a:spcPts val="0"/>
                        </a:spcBef>
                        <a:spcAft>
                          <a:spcPts val="0"/>
                        </a:spcAft>
                        <a:buNone/>
                      </a:pPr>
                      <a:r>
                        <a:rPr lang="en-US" sz="1200"/>
                        <a:t>0.01219</a:t>
                      </a:r>
                      <a:endParaRPr sz="1200"/>
                    </a:p>
                  </a:txBody>
                  <a:tcPr marL="63500" marR="63500" marT="63500" marB="63500"/>
                </a:tc>
                <a:tc>
                  <a:txBody>
                    <a:bodyPr/>
                    <a:lstStyle/>
                    <a:p>
                      <a:pPr marL="0" lvl="0" indent="0" algn="ctr" rtl="0">
                        <a:spcBef>
                          <a:spcPts val="0"/>
                        </a:spcBef>
                        <a:spcAft>
                          <a:spcPts val="0"/>
                        </a:spcAft>
                        <a:buNone/>
                      </a:pPr>
                      <a:r>
                        <a:rPr lang="en-US" sz="1200"/>
                        <a:t>Insignificant</a:t>
                      </a:r>
                      <a:endParaRPr sz="1200"/>
                    </a:p>
                  </a:txBody>
                  <a:tcPr marL="63500" marR="63500" marT="63500" marB="63500"/>
                </a:tc>
                <a:extLst>
                  <a:ext uri="{0D108BD9-81ED-4DB2-BD59-A6C34878D82A}">
                    <a16:rowId xmlns:a16="http://schemas.microsoft.com/office/drawing/2014/main" val="10006"/>
                  </a:ext>
                </a:extLst>
              </a:tr>
              <a:tr h="374250">
                <a:tc>
                  <a:txBody>
                    <a:bodyPr/>
                    <a:lstStyle/>
                    <a:p>
                      <a:pPr marL="0" lvl="0" indent="0" algn="l" rtl="0">
                        <a:spcBef>
                          <a:spcPts val="0"/>
                        </a:spcBef>
                        <a:spcAft>
                          <a:spcPts val="0"/>
                        </a:spcAft>
                        <a:buNone/>
                      </a:pPr>
                      <a:r>
                        <a:rPr lang="en-US" sz="1200">
                          <a:highlight>
                            <a:srgbClr val="FFFFFF"/>
                          </a:highlight>
                        </a:rPr>
                        <a:t>Linear Regression 2</a:t>
                      </a:r>
                      <a:endParaRPr sz="1200">
                        <a:highlight>
                          <a:srgbClr val="FFFFFF"/>
                        </a:highlight>
                      </a:endParaRPr>
                    </a:p>
                  </a:txBody>
                  <a:tcPr marL="63500" marR="63500" marT="63500" marB="63500"/>
                </a:tc>
                <a:tc>
                  <a:txBody>
                    <a:bodyPr/>
                    <a:lstStyle/>
                    <a:p>
                      <a:pPr marL="0" lvl="0" indent="0" algn="ctr" rtl="0">
                        <a:spcBef>
                          <a:spcPts val="0"/>
                        </a:spcBef>
                        <a:spcAft>
                          <a:spcPts val="0"/>
                        </a:spcAft>
                        <a:buNone/>
                      </a:pPr>
                      <a:r>
                        <a:rPr lang="en-US" sz="1200"/>
                        <a:t>0.01264</a:t>
                      </a:r>
                      <a:endParaRPr sz="1200"/>
                    </a:p>
                  </a:txBody>
                  <a:tcPr marL="63500" marR="63500" marT="63500" marB="63500"/>
                </a:tc>
                <a:tc>
                  <a:txBody>
                    <a:bodyPr/>
                    <a:lstStyle/>
                    <a:p>
                      <a:pPr marL="0" lvl="0" indent="0" algn="ctr" rtl="0">
                        <a:spcBef>
                          <a:spcPts val="0"/>
                        </a:spcBef>
                        <a:spcAft>
                          <a:spcPts val="0"/>
                        </a:spcAft>
                        <a:buNone/>
                      </a:pPr>
                      <a:r>
                        <a:rPr lang="en-US" sz="1200"/>
                        <a:t>2</a:t>
                      </a:r>
                      <a:endParaRPr sz="1200"/>
                    </a:p>
                  </a:txBody>
                  <a:tcPr marL="63500" marR="63500" marT="63500" marB="63500"/>
                </a:tc>
                <a:extLst>
                  <a:ext uri="{0D108BD9-81ED-4DB2-BD59-A6C34878D82A}">
                    <a16:rowId xmlns:a16="http://schemas.microsoft.com/office/drawing/2014/main" val="10007"/>
                  </a:ext>
                </a:extLst>
              </a:tr>
              <a:tr h="408950">
                <a:tc>
                  <a:txBody>
                    <a:bodyPr/>
                    <a:lstStyle/>
                    <a:p>
                      <a:pPr marL="0" lvl="0" indent="0" algn="l" rtl="0">
                        <a:lnSpc>
                          <a:spcPct val="115000"/>
                        </a:lnSpc>
                        <a:spcBef>
                          <a:spcPts val="0"/>
                        </a:spcBef>
                        <a:spcAft>
                          <a:spcPts val="0"/>
                        </a:spcAft>
                        <a:buNone/>
                      </a:pPr>
                      <a:r>
                        <a:rPr lang="en-US" sz="1200">
                          <a:highlight>
                            <a:srgbClr val="FFFFFF"/>
                          </a:highlight>
                        </a:rPr>
                        <a:t>Regression Tree 1</a:t>
                      </a:r>
                      <a:endParaRPr sz="1200">
                        <a:solidFill>
                          <a:srgbClr val="0000FF"/>
                        </a:solidFill>
                        <a:highlight>
                          <a:srgbClr val="FFFFFF"/>
                        </a:highlight>
                      </a:endParaRPr>
                    </a:p>
                  </a:txBody>
                  <a:tcPr marL="63500" marR="63500" marT="63500" marB="63500"/>
                </a:tc>
                <a:tc>
                  <a:txBody>
                    <a:bodyPr/>
                    <a:lstStyle/>
                    <a:p>
                      <a:pPr marL="0" lvl="0" indent="0" algn="ctr" rtl="0">
                        <a:spcBef>
                          <a:spcPts val="0"/>
                        </a:spcBef>
                        <a:spcAft>
                          <a:spcPts val="0"/>
                        </a:spcAft>
                        <a:buNone/>
                      </a:pPr>
                      <a:r>
                        <a:rPr lang="en-US" sz="1200"/>
                        <a:t>0.01290</a:t>
                      </a:r>
                      <a:endParaRPr sz="1200"/>
                    </a:p>
                  </a:txBody>
                  <a:tcPr marL="63500" marR="63500" marT="63500" marB="63500"/>
                </a:tc>
                <a:tc>
                  <a:txBody>
                    <a:bodyPr/>
                    <a:lstStyle/>
                    <a:p>
                      <a:pPr marL="0" lvl="0" indent="0" algn="ctr" rtl="0">
                        <a:spcBef>
                          <a:spcPts val="0"/>
                        </a:spcBef>
                        <a:spcAft>
                          <a:spcPts val="0"/>
                        </a:spcAft>
                        <a:buNone/>
                      </a:pPr>
                      <a:r>
                        <a:rPr lang="en-US" sz="1200"/>
                        <a:t>16</a:t>
                      </a:r>
                      <a:endParaRPr sz="1200"/>
                    </a:p>
                  </a:txBody>
                  <a:tcPr marL="63500" marR="63500" marT="63500" marB="63500"/>
                </a:tc>
                <a:extLst>
                  <a:ext uri="{0D108BD9-81ED-4DB2-BD59-A6C34878D82A}">
                    <a16:rowId xmlns:a16="http://schemas.microsoft.com/office/drawing/2014/main" val="10008"/>
                  </a:ext>
                </a:extLst>
              </a:tr>
              <a:tr h="408950">
                <a:tc>
                  <a:txBody>
                    <a:bodyPr/>
                    <a:lstStyle/>
                    <a:p>
                      <a:pPr marL="0" lvl="0" indent="0" algn="l" rtl="0">
                        <a:lnSpc>
                          <a:spcPct val="115000"/>
                        </a:lnSpc>
                        <a:spcBef>
                          <a:spcPts val="0"/>
                        </a:spcBef>
                        <a:spcAft>
                          <a:spcPts val="0"/>
                        </a:spcAft>
                        <a:buNone/>
                      </a:pPr>
                      <a:r>
                        <a:rPr lang="en-US" sz="1200">
                          <a:solidFill>
                            <a:schemeClr val="dk1"/>
                          </a:solidFill>
                          <a:highlight>
                            <a:srgbClr val="FFFFFF"/>
                          </a:highlight>
                        </a:rPr>
                        <a:t>Regression Tree 2</a:t>
                      </a:r>
                      <a:endParaRPr sz="1200">
                        <a:highlight>
                          <a:srgbClr val="FFFFFF"/>
                        </a:highlight>
                      </a:endParaRPr>
                    </a:p>
                  </a:txBody>
                  <a:tcPr marL="63500" marR="63500" marT="63500" marB="63500"/>
                </a:tc>
                <a:tc>
                  <a:txBody>
                    <a:bodyPr/>
                    <a:lstStyle/>
                    <a:p>
                      <a:pPr marL="0" lvl="0" indent="0" algn="ctr" rtl="0">
                        <a:spcBef>
                          <a:spcPts val="0"/>
                        </a:spcBef>
                        <a:spcAft>
                          <a:spcPts val="0"/>
                        </a:spcAft>
                        <a:buNone/>
                      </a:pPr>
                      <a:r>
                        <a:rPr lang="en-US" sz="1200"/>
                        <a:t>0.01464</a:t>
                      </a:r>
                      <a:endParaRPr sz="1200"/>
                    </a:p>
                  </a:txBody>
                  <a:tcPr marL="63500" marR="63500" marT="63500" marB="63500"/>
                </a:tc>
                <a:tc>
                  <a:txBody>
                    <a:bodyPr/>
                    <a:lstStyle/>
                    <a:p>
                      <a:pPr marL="0" lvl="0" indent="0" algn="ctr" rtl="0">
                        <a:spcBef>
                          <a:spcPts val="0"/>
                        </a:spcBef>
                        <a:spcAft>
                          <a:spcPts val="0"/>
                        </a:spcAft>
                        <a:buNone/>
                      </a:pPr>
                      <a:r>
                        <a:rPr lang="en-US" sz="1200"/>
                        <a:t>5</a:t>
                      </a:r>
                      <a:endParaRPr sz="1200"/>
                    </a:p>
                  </a:txBody>
                  <a:tcPr marL="63500" marR="63500" marT="63500" marB="63500"/>
                </a:tc>
                <a:extLst>
                  <a:ext uri="{0D108BD9-81ED-4DB2-BD59-A6C34878D82A}">
                    <a16:rowId xmlns:a16="http://schemas.microsoft.com/office/drawing/2014/main" val="10009"/>
                  </a:ext>
                </a:extLst>
              </a:tr>
              <a:tr h="374250">
                <a:tc>
                  <a:txBody>
                    <a:bodyPr/>
                    <a:lstStyle/>
                    <a:p>
                      <a:pPr marL="0" lvl="0" indent="0" algn="l" rtl="0">
                        <a:spcBef>
                          <a:spcPts val="0"/>
                        </a:spcBef>
                        <a:spcAft>
                          <a:spcPts val="0"/>
                        </a:spcAft>
                        <a:buNone/>
                      </a:pPr>
                      <a:r>
                        <a:rPr lang="en-US" sz="1200">
                          <a:highlight>
                            <a:srgbClr val="FFFFFF"/>
                          </a:highlight>
                        </a:rPr>
                        <a:t>Linear Regression 1</a:t>
                      </a:r>
                      <a:endParaRPr sz="1200">
                        <a:highlight>
                          <a:srgbClr val="FFFFFF"/>
                        </a:highlight>
                      </a:endParaRPr>
                    </a:p>
                  </a:txBody>
                  <a:tcPr marL="63500" marR="63500" marT="63500" marB="63500"/>
                </a:tc>
                <a:tc>
                  <a:txBody>
                    <a:bodyPr/>
                    <a:lstStyle/>
                    <a:p>
                      <a:pPr marL="0" lvl="0" indent="0" algn="ctr" rtl="0">
                        <a:spcBef>
                          <a:spcPts val="0"/>
                        </a:spcBef>
                        <a:spcAft>
                          <a:spcPts val="0"/>
                        </a:spcAft>
                        <a:buNone/>
                      </a:pPr>
                      <a:r>
                        <a:rPr lang="en-US" sz="1200"/>
                        <a:t>0.01629</a:t>
                      </a:r>
                      <a:endParaRPr sz="1200"/>
                    </a:p>
                  </a:txBody>
                  <a:tcPr marL="63500" marR="63500" marT="63500" marB="63500"/>
                </a:tc>
                <a:tc>
                  <a:txBody>
                    <a:bodyPr/>
                    <a:lstStyle/>
                    <a:p>
                      <a:pPr marL="0" lvl="0" indent="0" algn="ctr" rtl="0">
                        <a:spcBef>
                          <a:spcPts val="0"/>
                        </a:spcBef>
                        <a:spcAft>
                          <a:spcPts val="0"/>
                        </a:spcAft>
                        <a:buNone/>
                      </a:pPr>
                      <a:r>
                        <a:rPr lang="en-US" sz="1200"/>
                        <a:t>3</a:t>
                      </a:r>
                      <a:endParaRPr sz="1200"/>
                    </a:p>
                  </a:txBody>
                  <a:tcPr marL="63500" marR="63500" marT="63500" marB="63500"/>
                </a:tc>
                <a:extLst>
                  <a:ext uri="{0D108BD9-81ED-4DB2-BD59-A6C34878D82A}">
                    <a16:rowId xmlns:a16="http://schemas.microsoft.com/office/drawing/2014/main" val="10010"/>
                  </a:ext>
                </a:extLst>
              </a:tr>
            </a:tbl>
          </a:graphicData>
        </a:graphic>
      </p:graphicFrame>
      <p:pic>
        <p:nvPicPr>
          <p:cNvPr id="297" name="Google Shape;297;p31"/>
          <p:cNvPicPr preferRelativeResize="0"/>
          <p:nvPr/>
        </p:nvPicPr>
        <p:blipFill>
          <a:blip r:embed="rId3">
            <a:alphaModFix/>
          </a:blip>
          <a:stretch>
            <a:fillRect/>
          </a:stretch>
        </p:blipFill>
        <p:spPr>
          <a:xfrm>
            <a:off x="1044225" y="1862300"/>
            <a:ext cx="3579625" cy="1436500"/>
          </a:xfrm>
          <a:prstGeom prst="rect">
            <a:avLst/>
          </a:prstGeom>
          <a:noFill/>
          <a:ln>
            <a:noFill/>
          </a:ln>
        </p:spPr>
      </p:pic>
      <p:pic>
        <p:nvPicPr>
          <p:cNvPr id="298" name="Google Shape;298;p31"/>
          <p:cNvPicPr preferRelativeResize="0"/>
          <p:nvPr/>
        </p:nvPicPr>
        <p:blipFill>
          <a:blip r:embed="rId4">
            <a:alphaModFix/>
          </a:blip>
          <a:stretch>
            <a:fillRect/>
          </a:stretch>
        </p:blipFill>
        <p:spPr>
          <a:xfrm>
            <a:off x="457675" y="3424875"/>
            <a:ext cx="5071050" cy="313573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2"/>
          <p:cNvSpPr txBox="1">
            <a:spLocks noGrp="1"/>
          </p:cNvSpPr>
          <p:nvPr>
            <p:ph type="title"/>
          </p:nvPr>
        </p:nvSpPr>
        <p:spPr>
          <a:xfrm>
            <a:off x="461325" y="365125"/>
            <a:ext cx="10420800" cy="677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Regression Tree Model 3</a:t>
            </a:r>
            <a:endParaRPr/>
          </a:p>
        </p:txBody>
      </p:sp>
      <p:sp>
        <p:nvSpPr>
          <p:cNvPr id="305" name="Google Shape;305;p32"/>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20</a:t>
            </a:fld>
            <a:endParaRPr/>
          </a:p>
        </p:txBody>
      </p:sp>
      <p:sp>
        <p:nvSpPr>
          <p:cNvPr id="306" name="Google Shape;306;p32"/>
          <p:cNvSpPr txBox="1"/>
          <p:nvPr/>
        </p:nvSpPr>
        <p:spPr>
          <a:xfrm>
            <a:off x="840200" y="153225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2"/>
          <p:cNvSpPr txBox="1"/>
          <p:nvPr/>
        </p:nvSpPr>
        <p:spPr>
          <a:xfrm>
            <a:off x="-562000" y="1204988"/>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8" name="Google Shape;308;p32"/>
          <p:cNvPicPr preferRelativeResize="0"/>
          <p:nvPr/>
        </p:nvPicPr>
        <p:blipFill rotWithShape="1">
          <a:blip r:embed="rId3">
            <a:alphaModFix/>
          </a:blip>
          <a:srcRect r="12679"/>
          <a:stretch/>
        </p:blipFill>
        <p:spPr>
          <a:xfrm>
            <a:off x="982575" y="1458325"/>
            <a:ext cx="9378300" cy="4716525"/>
          </a:xfrm>
          <a:prstGeom prst="rect">
            <a:avLst/>
          </a:prstGeom>
          <a:noFill/>
          <a:ln w="9525" cap="flat" cmpd="sng">
            <a:solidFill>
              <a:srgbClr val="000000"/>
            </a:solidFill>
            <a:prstDash val="solid"/>
            <a:round/>
            <a:headEnd type="none" w="sm" len="sm"/>
            <a:tailEnd type="none" w="sm" len="sm"/>
          </a:ln>
        </p:spPr>
      </p:pic>
      <p:sp>
        <p:nvSpPr>
          <p:cNvPr id="309" name="Google Shape;309;p32"/>
          <p:cNvSpPr/>
          <p:nvPr/>
        </p:nvSpPr>
        <p:spPr>
          <a:xfrm>
            <a:off x="935500" y="2617250"/>
            <a:ext cx="3707400" cy="17136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3"/>
          <p:cNvSpPr txBox="1">
            <a:spLocks noGrp="1"/>
          </p:cNvSpPr>
          <p:nvPr>
            <p:ph type="title"/>
          </p:nvPr>
        </p:nvSpPr>
        <p:spPr>
          <a:xfrm>
            <a:off x="461319" y="106825"/>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Variable matrix</a:t>
            </a:r>
            <a:endParaRPr/>
          </a:p>
        </p:txBody>
      </p:sp>
      <p:sp>
        <p:nvSpPr>
          <p:cNvPr id="316" name="Google Shape;316;p33"/>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21</a:t>
            </a:fld>
            <a:endParaRPr/>
          </a:p>
        </p:txBody>
      </p:sp>
      <p:pic>
        <p:nvPicPr>
          <p:cNvPr id="317" name="Google Shape;317;p33"/>
          <p:cNvPicPr preferRelativeResize="0"/>
          <p:nvPr/>
        </p:nvPicPr>
        <p:blipFill>
          <a:blip r:embed="rId3">
            <a:alphaModFix/>
          </a:blip>
          <a:stretch>
            <a:fillRect/>
          </a:stretch>
        </p:blipFill>
        <p:spPr>
          <a:xfrm>
            <a:off x="672650" y="1074200"/>
            <a:ext cx="10061900" cy="544832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4"/>
          <p:cNvSpPr txBox="1">
            <a:spLocks noGrp="1"/>
          </p:cNvSpPr>
          <p:nvPr>
            <p:ph type="title"/>
          </p:nvPr>
        </p:nvSpPr>
        <p:spPr>
          <a:xfrm>
            <a:off x="457669" y="3800850"/>
            <a:ext cx="10420800" cy="1059900"/>
          </a:xfrm>
          <a:prstGeom prst="rect">
            <a:avLst/>
          </a:prstGeom>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US"/>
              <a:t>Limitations</a:t>
            </a:r>
            <a:endParaRPr/>
          </a:p>
        </p:txBody>
      </p:sp>
      <p:sp>
        <p:nvSpPr>
          <p:cNvPr id="324" name="Google Shape;324;p34"/>
          <p:cNvSpPr txBox="1">
            <a:spLocks noGrp="1"/>
          </p:cNvSpPr>
          <p:nvPr>
            <p:ph type="body" idx="1"/>
          </p:nvPr>
        </p:nvSpPr>
        <p:spPr>
          <a:xfrm>
            <a:off x="454075" y="4620908"/>
            <a:ext cx="10428000" cy="1417500"/>
          </a:xfrm>
          <a:prstGeom prst="rect">
            <a:avLst/>
          </a:prstGeom>
        </p:spPr>
        <p:txBody>
          <a:bodyPr spcFirstLastPara="1" wrap="square" lIns="91425" tIns="45700" rIns="91425" bIns="45700" anchor="t" anchorCtr="0">
            <a:noAutofit/>
          </a:bodyPr>
          <a:lstStyle/>
          <a:p>
            <a:pPr marL="0" lvl="0" indent="0" algn="just" rtl="0">
              <a:lnSpc>
                <a:spcPct val="115000"/>
              </a:lnSpc>
              <a:spcBef>
                <a:spcPts val="0"/>
              </a:spcBef>
              <a:spcAft>
                <a:spcPts val="0"/>
              </a:spcAft>
              <a:buNone/>
            </a:pPr>
            <a:endParaRPr sz="1800">
              <a:latin typeface="Arial"/>
              <a:ea typeface="Arial"/>
              <a:cs typeface="Arial"/>
              <a:sym typeface="Arial"/>
            </a:endParaRPr>
          </a:p>
          <a:p>
            <a:pPr marL="457200" lvl="0" indent="-342900" algn="just" rtl="0">
              <a:lnSpc>
                <a:spcPct val="115000"/>
              </a:lnSpc>
              <a:spcBef>
                <a:spcPts val="0"/>
              </a:spcBef>
              <a:spcAft>
                <a:spcPts val="0"/>
              </a:spcAft>
              <a:buSzPts val="1800"/>
              <a:buChar char="●"/>
            </a:pPr>
            <a:r>
              <a:rPr lang="en-US" sz="1800">
                <a:latin typeface="Arial"/>
                <a:ea typeface="Arial"/>
                <a:cs typeface="Arial"/>
                <a:sym typeface="Arial"/>
              </a:rPr>
              <a:t>Time</a:t>
            </a:r>
            <a:endParaRPr sz="1800">
              <a:latin typeface="Arial"/>
              <a:ea typeface="Arial"/>
              <a:cs typeface="Arial"/>
              <a:sym typeface="Arial"/>
            </a:endParaRPr>
          </a:p>
          <a:p>
            <a:pPr marL="457200" lvl="0" indent="-342900" algn="just" rtl="0">
              <a:lnSpc>
                <a:spcPct val="115000"/>
              </a:lnSpc>
              <a:spcBef>
                <a:spcPts val="0"/>
              </a:spcBef>
              <a:spcAft>
                <a:spcPts val="0"/>
              </a:spcAft>
              <a:buSzPts val="1800"/>
              <a:buChar char="●"/>
            </a:pPr>
            <a:r>
              <a:rPr lang="en-US" sz="1800">
                <a:latin typeface="Arial"/>
                <a:ea typeface="Arial"/>
                <a:cs typeface="Arial"/>
                <a:sym typeface="Arial"/>
              </a:rPr>
              <a:t>Data Availability and Inclusion</a:t>
            </a:r>
            <a:endParaRPr sz="1800">
              <a:latin typeface="Arial"/>
              <a:ea typeface="Arial"/>
              <a:cs typeface="Arial"/>
              <a:sym typeface="Arial"/>
            </a:endParaRPr>
          </a:p>
        </p:txBody>
      </p:sp>
      <p:sp>
        <p:nvSpPr>
          <p:cNvPr id="325" name="Google Shape;325;p34"/>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22</a:t>
            </a:fld>
            <a:endParaRPr/>
          </a:p>
        </p:txBody>
      </p:sp>
      <p:sp>
        <p:nvSpPr>
          <p:cNvPr id="326" name="Google Shape;326;p34"/>
          <p:cNvSpPr txBox="1">
            <a:spLocks noGrp="1"/>
          </p:cNvSpPr>
          <p:nvPr>
            <p:ph type="body" idx="1"/>
          </p:nvPr>
        </p:nvSpPr>
        <p:spPr>
          <a:xfrm>
            <a:off x="454075" y="1340543"/>
            <a:ext cx="10428000" cy="2020500"/>
          </a:xfrm>
          <a:prstGeom prst="rect">
            <a:avLst/>
          </a:prstGeom>
        </p:spPr>
        <p:txBody>
          <a:bodyPr spcFirstLastPara="1" wrap="square" lIns="91425" tIns="45700" rIns="91425" bIns="45700" anchor="t" anchorCtr="0">
            <a:noAutofit/>
          </a:bodyPr>
          <a:lstStyle/>
          <a:p>
            <a:pPr marL="457200" marR="0" lvl="0" indent="-342900" algn="just" rtl="0">
              <a:lnSpc>
                <a:spcPct val="115000"/>
              </a:lnSpc>
              <a:spcBef>
                <a:spcPts val="0"/>
              </a:spcBef>
              <a:spcAft>
                <a:spcPts val="0"/>
              </a:spcAft>
              <a:buSzPts val="1800"/>
              <a:buFont typeface="Arial"/>
              <a:buChar char="●"/>
            </a:pPr>
            <a:r>
              <a:rPr lang="en-US" sz="1800">
                <a:latin typeface="Arial"/>
                <a:ea typeface="Arial"/>
                <a:cs typeface="Arial"/>
                <a:sym typeface="Arial"/>
              </a:rPr>
              <a:t>Helping non-profit organizations in finding the most important causes</a:t>
            </a:r>
            <a:endParaRPr sz="1800">
              <a:latin typeface="Arial"/>
              <a:ea typeface="Arial"/>
              <a:cs typeface="Arial"/>
              <a:sym typeface="Arial"/>
            </a:endParaRPr>
          </a:p>
          <a:p>
            <a:pPr marL="457200" marR="0" lvl="0" indent="-342900" algn="just" rtl="0">
              <a:lnSpc>
                <a:spcPct val="115000"/>
              </a:lnSpc>
              <a:spcBef>
                <a:spcPts val="0"/>
              </a:spcBef>
              <a:spcAft>
                <a:spcPts val="0"/>
              </a:spcAft>
              <a:buSzPts val="1800"/>
              <a:buFont typeface="Arial"/>
              <a:buChar char="●"/>
            </a:pPr>
            <a:r>
              <a:rPr lang="en-US" sz="1800">
                <a:latin typeface="Arial"/>
                <a:ea typeface="Arial"/>
                <a:cs typeface="Arial"/>
                <a:sym typeface="Arial"/>
              </a:rPr>
              <a:t>Reducing risk</a:t>
            </a:r>
            <a:endParaRPr sz="1800">
              <a:latin typeface="Arial"/>
              <a:ea typeface="Arial"/>
              <a:cs typeface="Arial"/>
              <a:sym typeface="Arial"/>
            </a:endParaRPr>
          </a:p>
          <a:p>
            <a:pPr marL="457200" lvl="0" indent="-342900" algn="just" rtl="0">
              <a:lnSpc>
                <a:spcPct val="115000"/>
              </a:lnSpc>
              <a:spcBef>
                <a:spcPts val="0"/>
              </a:spcBef>
              <a:spcAft>
                <a:spcPts val="0"/>
              </a:spcAft>
              <a:buSzPts val="1800"/>
              <a:buFont typeface="Arial"/>
              <a:buChar char="●"/>
            </a:pPr>
            <a:r>
              <a:rPr lang="en-US" sz="1800">
                <a:latin typeface="Arial"/>
                <a:ea typeface="Arial"/>
                <a:cs typeface="Arial"/>
                <a:sym typeface="Arial"/>
              </a:rPr>
              <a:t>Assisting awareness programs </a:t>
            </a:r>
            <a:endParaRPr sz="1800">
              <a:latin typeface="Arial"/>
              <a:ea typeface="Arial"/>
              <a:cs typeface="Arial"/>
              <a:sym typeface="Arial"/>
            </a:endParaRPr>
          </a:p>
          <a:p>
            <a:pPr marL="457200" lvl="0" indent="-342900" algn="just" rtl="0">
              <a:lnSpc>
                <a:spcPct val="115000"/>
              </a:lnSpc>
              <a:spcBef>
                <a:spcPts val="0"/>
              </a:spcBef>
              <a:spcAft>
                <a:spcPts val="0"/>
              </a:spcAft>
              <a:buSzPts val="1800"/>
              <a:buFont typeface="Arial"/>
              <a:buChar char="●"/>
            </a:pPr>
            <a:r>
              <a:rPr lang="en-US" sz="1800">
                <a:latin typeface="Arial"/>
                <a:ea typeface="Arial"/>
                <a:cs typeface="Arial"/>
                <a:sym typeface="Arial"/>
              </a:rPr>
              <a:t>Comparison of countries</a:t>
            </a:r>
            <a:endParaRPr sz="1800">
              <a:latin typeface="Arial"/>
              <a:ea typeface="Arial"/>
              <a:cs typeface="Arial"/>
              <a:sym typeface="Arial"/>
            </a:endParaRPr>
          </a:p>
          <a:p>
            <a:pPr marL="457200" lvl="0" indent="-342900" algn="just" rtl="0">
              <a:lnSpc>
                <a:spcPct val="115000"/>
              </a:lnSpc>
              <a:spcBef>
                <a:spcPts val="0"/>
              </a:spcBef>
              <a:spcAft>
                <a:spcPts val="0"/>
              </a:spcAft>
              <a:buSzPts val="1800"/>
              <a:buFont typeface="Arial"/>
              <a:buChar char="●"/>
            </a:pPr>
            <a:r>
              <a:rPr lang="en-US" sz="1800">
                <a:latin typeface="Arial"/>
                <a:ea typeface="Arial"/>
                <a:cs typeface="Arial"/>
                <a:sym typeface="Arial"/>
              </a:rPr>
              <a:t>Attract donors with real data and insights visualization</a:t>
            </a:r>
            <a:endParaRPr sz="1800">
              <a:latin typeface="Arial"/>
              <a:ea typeface="Arial"/>
              <a:cs typeface="Arial"/>
              <a:sym typeface="Arial"/>
            </a:endParaRPr>
          </a:p>
          <a:p>
            <a:pPr marL="457200" lvl="0" indent="-342900" algn="just" rtl="0">
              <a:lnSpc>
                <a:spcPct val="115000"/>
              </a:lnSpc>
              <a:spcBef>
                <a:spcPts val="0"/>
              </a:spcBef>
              <a:spcAft>
                <a:spcPts val="0"/>
              </a:spcAft>
              <a:buSzPts val="1800"/>
              <a:buFont typeface="Arial"/>
              <a:buChar char="●"/>
            </a:pPr>
            <a:r>
              <a:rPr lang="en-US" sz="1800">
                <a:latin typeface="Arial"/>
                <a:ea typeface="Arial"/>
                <a:cs typeface="Arial"/>
                <a:sym typeface="Arial"/>
              </a:rPr>
              <a:t>Other variables importance</a:t>
            </a:r>
            <a:endParaRPr sz="1800">
              <a:latin typeface="Arial"/>
              <a:ea typeface="Arial"/>
              <a:cs typeface="Arial"/>
              <a:sym typeface="Arial"/>
            </a:endParaRPr>
          </a:p>
        </p:txBody>
      </p:sp>
      <p:sp>
        <p:nvSpPr>
          <p:cNvPr id="327" name="Google Shape;327;p34"/>
          <p:cNvSpPr txBox="1">
            <a:spLocks noGrp="1"/>
          </p:cNvSpPr>
          <p:nvPr>
            <p:ph type="title"/>
          </p:nvPr>
        </p:nvSpPr>
        <p:spPr>
          <a:xfrm>
            <a:off x="457669" y="331875"/>
            <a:ext cx="10420800" cy="1059900"/>
          </a:xfrm>
          <a:prstGeom prst="rect">
            <a:avLst/>
          </a:prstGeom>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US"/>
              <a:t>Managerial Implications</a:t>
            </a:r>
            <a:endParaRPr/>
          </a:p>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5"/>
          <p:cNvSpPr txBox="1">
            <a:spLocks noGrp="1"/>
          </p:cNvSpPr>
          <p:nvPr>
            <p:ph type="title"/>
          </p:nvPr>
        </p:nvSpPr>
        <p:spPr>
          <a:xfrm>
            <a:off x="461319" y="365125"/>
            <a:ext cx="10420800" cy="1059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Link and References </a:t>
            </a:r>
            <a:endParaRPr/>
          </a:p>
        </p:txBody>
      </p:sp>
      <p:sp>
        <p:nvSpPr>
          <p:cNvPr id="334" name="Google Shape;334;p35"/>
          <p:cNvSpPr txBox="1">
            <a:spLocks noGrp="1"/>
          </p:cNvSpPr>
          <p:nvPr>
            <p:ph type="body" idx="1"/>
          </p:nvPr>
        </p:nvSpPr>
        <p:spPr>
          <a:xfrm>
            <a:off x="454075" y="1532250"/>
            <a:ext cx="10420800" cy="4644600"/>
          </a:xfrm>
          <a:prstGeom prst="rect">
            <a:avLst/>
          </a:prstGeom>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100"/>
              <a:buFont typeface="Arial"/>
              <a:buNone/>
            </a:pPr>
            <a:r>
              <a:rPr lang="en-US" sz="1800" b="1">
                <a:latin typeface="Arial"/>
                <a:ea typeface="Arial"/>
                <a:cs typeface="Arial"/>
                <a:sym typeface="Arial"/>
              </a:rPr>
              <a:t>Link to the database:</a:t>
            </a:r>
            <a:endParaRPr sz="1800" b="1">
              <a:latin typeface="Arial"/>
              <a:ea typeface="Arial"/>
              <a:cs typeface="Arial"/>
              <a:sym typeface="Arial"/>
            </a:endParaRPr>
          </a:p>
          <a:p>
            <a:pPr marL="457200" lvl="0" indent="-317500" algn="just" rtl="0">
              <a:lnSpc>
                <a:spcPct val="100000"/>
              </a:lnSpc>
              <a:spcBef>
                <a:spcPts val="0"/>
              </a:spcBef>
              <a:spcAft>
                <a:spcPts val="0"/>
              </a:spcAft>
              <a:buSzPts val="1400"/>
              <a:buFont typeface="Arial"/>
              <a:buChar char="•"/>
            </a:pPr>
            <a:r>
              <a:rPr lang="en-US" sz="1400">
                <a:uFill>
                  <a:noFill/>
                </a:uFill>
                <a:latin typeface="Arial"/>
                <a:ea typeface="Arial"/>
                <a:cs typeface="Arial"/>
                <a:sym typeface="Arial"/>
                <a:hlinkClick r:id="rId3"/>
              </a:rPr>
              <a:t>https://docs.google.com/spreadsheets/d/1Q-8-uCacbW4DBhipwue8uR-qJKwCYQnior8xpy6oJRI/edit?usp=sharing</a:t>
            </a:r>
            <a:r>
              <a:rPr lang="en-US" sz="1400">
                <a:latin typeface="Arial"/>
                <a:ea typeface="Arial"/>
                <a:cs typeface="Arial"/>
                <a:sym typeface="Arial"/>
              </a:rPr>
              <a:t> </a:t>
            </a:r>
            <a:endParaRPr sz="1400">
              <a:latin typeface="Arial"/>
              <a:ea typeface="Arial"/>
              <a:cs typeface="Arial"/>
              <a:sym typeface="Arial"/>
            </a:endParaRPr>
          </a:p>
          <a:p>
            <a:pPr marL="0" lvl="0" indent="0" algn="just" rtl="0">
              <a:lnSpc>
                <a:spcPct val="150000"/>
              </a:lnSpc>
              <a:spcBef>
                <a:spcPts val="2000"/>
              </a:spcBef>
              <a:spcAft>
                <a:spcPts val="0"/>
              </a:spcAft>
              <a:buClr>
                <a:schemeClr val="dk1"/>
              </a:buClr>
              <a:buSzPts val="1100"/>
              <a:buFont typeface="Arial"/>
              <a:buNone/>
            </a:pPr>
            <a:r>
              <a:rPr lang="en-US" sz="1800" b="1">
                <a:latin typeface="Arial"/>
                <a:ea typeface="Arial"/>
                <a:cs typeface="Arial"/>
                <a:sym typeface="Arial"/>
              </a:rPr>
              <a:t>References in the document:</a:t>
            </a:r>
            <a:endParaRPr sz="1800" b="1">
              <a:latin typeface="Arial"/>
              <a:ea typeface="Arial"/>
              <a:cs typeface="Arial"/>
              <a:sym typeface="Arial"/>
            </a:endParaRPr>
          </a:p>
          <a:p>
            <a:pPr marL="457200" lvl="0" indent="-317500" algn="just" rtl="0">
              <a:lnSpc>
                <a:spcPct val="100000"/>
              </a:lnSpc>
              <a:spcBef>
                <a:spcPts val="600"/>
              </a:spcBef>
              <a:spcAft>
                <a:spcPts val="0"/>
              </a:spcAft>
              <a:buSzPts val="1400"/>
              <a:buFont typeface="Arial"/>
              <a:buChar char="●"/>
            </a:pPr>
            <a:r>
              <a:rPr lang="en-US" sz="1400">
                <a:latin typeface="Arial"/>
                <a:ea typeface="Arial"/>
                <a:cs typeface="Arial"/>
                <a:sym typeface="Arial"/>
              </a:rPr>
              <a:t>Ayesha (n.d). Human Development Index (HDI): Indicators &amp; Shortcomings | Economics.  Retrieved from: </a:t>
            </a:r>
            <a:r>
              <a:rPr lang="en-US" sz="1400">
                <a:uFill>
                  <a:noFill/>
                </a:uFill>
                <a:latin typeface="Arial"/>
                <a:ea typeface="Arial"/>
                <a:cs typeface="Arial"/>
                <a:sym typeface="Arial"/>
                <a:hlinkClick r:id="rId4"/>
              </a:rPr>
              <a:t>http://www.economicsdiscussion.net/economic-development/hdi/human-development-index-hdi-indicators-shortcomings-economics/29945</a:t>
            </a:r>
            <a:endParaRPr sz="1400">
              <a:latin typeface="Arial"/>
              <a:ea typeface="Arial"/>
              <a:cs typeface="Arial"/>
              <a:sym typeface="Arial"/>
            </a:endParaRPr>
          </a:p>
          <a:p>
            <a:pPr marL="0" lvl="0" indent="0" algn="just" rtl="0">
              <a:lnSpc>
                <a:spcPct val="100000"/>
              </a:lnSpc>
              <a:spcBef>
                <a:spcPts val="0"/>
              </a:spcBef>
              <a:spcAft>
                <a:spcPts val="0"/>
              </a:spcAft>
              <a:buClr>
                <a:schemeClr val="dk1"/>
              </a:buClr>
              <a:buSzPts val="1100"/>
              <a:buFont typeface="Arial"/>
              <a:buNone/>
            </a:pPr>
            <a:endParaRPr sz="1400">
              <a:latin typeface="Arial"/>
              <a:ea typeface="Arial"/>
              <a:cs typeface="Arial"/>
              <a:sym typeface="Arial"/>
            </a:endParaRPr>
          </a:p>
          <a:p>
            <a:pPr marL="457200" lvl="0" indent="-317500" algn="just" rtl="0">
              <a:lnSpc>
                <a:spcPct val="100000"/>
              </a:lnSpc>
              <a:spcBef>
                <a:spcPts val="0"/>
              </a:spcBef>
              <a:spcAft>
                <a:spcPts val="0"/>
              </a:spcAft>
              <a:buSzPts val="1400"/>
              <a:buFont typeface="Arial"/>
              <a:buChar char="●"/>
            </a:pPr>
            <a:r>
              <a:rPr lang="en-US" sz="1400">
                <a:latin typeface="Arial"/>
                <a:ea typeface="Arial"/>
                <a:cs typeface="Arial"/>
                <a:sym typeface="Arial"/>
              </a:rPr>
              <a:t>Jahan S. (n. d.) The Human Development Index – what it is and what it is not.</a:t>
            </a:r>
            <a:r>
              <a:rPr lang="en-US" sz="1400" b="1">
                <a:latin typeface="Arial"/>
                <a:ea typeface="Arial"/>
                <a:cs typeface="Arial"/>
                <a:sym typeface="Arial"/>
              </a:rPr>
              <a:t> </a:t>
            </a:r>
            <a:r>
              <a:rPr lang="en-US" sz="1400">
                <a:latin typeface="Arial"/>
                <a:ea typeface="Arial"/>
                <a:cs typeface="Arial"/>
                <a:sym typeface="Arial"/>
              </a:rPr>
              <a:t>Retrieved from The United Nations Development Programme: </a:t>
            </a:r>
            <a:r>
              <a:rPr lang="en-US" sz="1400">
                <a:uFill>
                  <a:noFill/>
                </a:uFill>
                <a:latin typeface="Arial"/>
                <a:ea typeface="Arial"/>
                <a:cs typeface="Arial"/>
                <a:sym typeface="Arial"/>
                <a:hlinkClick r:id="rId5"/>
              </a:rPr>
              <a:t>http://hdr.undp.org/en/hdi-what-it-is</a:t>
            </a:r>
            <a:r>
              <a:rPr lang="en-US" sz="1400">
                <a:latin typeface="Arial"/>
                <a:ea typeface="Arial"/>
                <a:cs typeface="Arial"/>
                <a:sym typeface="Arial"/>
              </a:rPr>
              <a:t> </a:t>
            </a:r>
            <a:endParaRPr sz="1400"/>
          </a:p>
          <a:p>
            <a:pPr marL="0" lvl="0" indent="0" algn="l" rtl="0">
              <a:spcBef>
                <a:spcPts val="1000"/>
              </a:spcBef>
              <a:spcAft>
                <a:spcPts val="0"/>
              </a:spcAft>
              <a:buNone/>
            </a:pPr>
            <a:endParaRPr sz="1400">
              <a:latin typeface="Arial"/>
              <a:ea typeface="Arial"/>
              <a:cs typeface="Arial"/>
              <a:sym typeface="Arial"/>
            </a:endParaRPr>
          </a:p>
          <a:p>
            <a:pPr marL="457200" lvl="0" indent="-317500" algn="l" rtl="0">
              <a:spcBef>
                <a:spcPts val="1000"/>
              </a:spcBef>
              <a:spcAft>
                <a:spcPts val="0"/>
              </a:spcAft>
              <a:buSzPts val="1400"/>
              <a:buFont typeface="Arial"/>
              <a:buChar char="●"/>
            </a:pPr>
            <a:r>
              <a:rPr lang="en-US" sz="1400">
                <a:latin typeface="Arial"/>
                <a:ea typeface="Arial"/>
                <a:cs typeface="Arial"/>
                <a:sym typeface="Arial"/>
              </a:rPr>
              <a:t>The Economic Times. (n.d.). Retrieved from: </a:t>
            </a:r>
            <a:r>
              <a:rPr lang="en-US" sz="1400">
                <a:uFill>
                  <a:noFill/>
                </a:uFill>
                <a:latin typeface="Arial"/>
                <a:ea typeface="Arial"/>
                <a:cs typeface="Arial"/>
                <a:sym typeface="Arial"/>
                <a:hlinkClick r:id="rId6"/>
              </a:rPr>
              <a:t>https://economictimes.indiatimes.com/definition/human-development-index?from=mdr</a:t>
            </a:r>
            <a:endParaRPr/>
          </a:p>
        </p:txBody>
      </p:sp>
      <p:sp>
        <p:nvSpPr>
          <p:cNvPr id="335" name="Google Shape;335;p35"/>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6"/>
          <p:cNvSpPr txBox="1">
            <a:spLocks noGrp="1"/>
          </p:cNvSpPr>
          <p:nvPr>
            <p:ph type="title"/>
          </p:nvPr>
        </p:nvSpPr>
        <p:spPr>
          <a:xfrm>
            <a:off x="457669" y="5433350"/>
            <a:ext cx="10420800" cy="10599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4800"/>
              <a:t>Thank you!</a:t>
            </a:r>
            <a:endParaRPr sz="4800"/>
          </a:p>
        </p:txBody>
      </p:sp>
      <p:sp>
        <p:nvSpPr>
          <p:cNvPr id="342" name="Google Shape;342;p36"/>
          <p:cNvSpPr txBox="1">
            <a:spLocks noGrp="1"/>
          </p:cNvSpPr>
          <p:nvPr>
            <p:ph type="sldNum" idx="12"/>
          </p:nvPr>
        </p:nvSpPr>
        <p:spPr>
          <a:xfrm>
            <a:off x="11334283" y="6356350"/>
            <a:ext cx="471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24</a:t>
            </a:fld>
            <a:endParaRPr/>
          </a:p>
        </p:txBody>
      </p:sp>
      <p:pic>
        <p:nvPicPr>
          <p:cNvPr id="343" name="Google Shape;343;p36"/>
          <p:cNvPicPr preferRelativeResize="0"/>
          <p:nvPr/>
        </p:nvPicPr>
        <p:blipFill>
          <a:blip r:embed="rId3">
            <a:alphaModFix/>
          </a:blip>
          <a:stretch>
            <a:fillRect/>
          </a:stretch>
        </p:blipFill>
        <p:spPr>
          <a:xfrm>
            <a:off x="2378000" y="333025"/>
            <a:ext cx="6934200" cy="520065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UNT">
      <a:dk1>
        <a:srgbClr val="000000"/>
      </a:dk1>
      <a:lt1>
        <a:srgbClr val="FFFFFF"/>
      </a:lt1>
      <a:dk2>
        <a:srgbClr val="000000"/>
      </a:dk2>
      <a:lt2>
        <a:srgbClr val="FFFFFF"/>
      </a:lt2>
      <a:accent1>
        <a:srgbClr val="84B1CD"/>
      </a:accent1>
      <a:accent2>
        <a:srgbClr val="887A68"/>
      </a:accent2>
      <a:accent3>
        <a:srgbClr val="E5DBAE"/>
      </a:accent3>
      <a:accent4>
        <a:srgbClr val="008265"/>
      </a:accent4>
      <a:accent5>
        <a:srgbClr val="C0DB37"/>
      </a:accent5>
      <a:accent6>
        <a:srgbClr val="BFBFBF"/>
      </a:accent6>
      <a:hlink>
        <a:srgbClr val="00853E"/>
      </a:hlink>
      <a:folHlink>
        <a:srgbClr val="72B83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2164</Words>
  <Application>Microsoft Office PowerPoint</Application>
  <PresentationFormat>Widescreen</PresentationFormat>
  <Paragraphs>399</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Georgia</vt:lpstr>
      <vt:lpstr>Office Theme</vt:lpstr>
      <vt:lpstr>Identifying Important Indicators for Explaining the Human Development Index</vt:lpstr>
      <vt:lpstr>Project Introduction</vt:lpstr>
      <vt:lpstr>Project Introduction</vt:lpstr>
      <vt:lpstr>Data Sampling</vt:lpstr>
      <vt:lpstr>Variables</vt:lpstr>
      <vt:lpstr>Complete Project Analysis Mapping</vt:lpstr>
      <vt:lpstr>Data Explore</vt:lpstr>
      <vt:lpstr>Examples of Skewness and Outliers</vt:lpstr>
      <vt:lpstr>Correlation</vt:lpstr>
      <vt:lpstr>Data Preprocessing  </vt:lpstr>
      <vt:lpstr>Data Preprocessing  </vt:lpstr>
      <vt:lpstr>Data Exploration after Data Preprocessing</vt:lpstr>
      <vt:lpstr>Cluster Analysis</vt:lpstr>
      <vt:lpstr>Cluster Analysis (continued)</vt:lpstr>
      <vt:lpstr>Linear Regression Models:</vt:lpstr>
      <vt:lpstr>Results: Linear Regression Models</vt:lpstr>
      <vt:lpstr>Regression Tree Models Analysis:</vt:lpstr>
      <vt:lpstr>Subtree Assessment Plot: Regression Trees</vt:lpstr>
      <vt:lpstr>Model Comparison &amp; Selection</vt:lpstr>
      <vt:lpstr>Regression Tree Model 3</vt:lpstr>
      <vt:lpstr>Variable matrix</vt:lpstr>
      <vt:lpstr>Limitations</vt:lpstr>
      <vt:lpstr>Link and 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Identifying Important Indicators for Explaining the Human Development Index</dc:title>
  <cp:lastModifiedBy>Angele Abi-Yaghi</cp:lastModifiedBy>
  <cp:revision>1</cp:revision>
  <dcterms:modified xsi:type="dcterms:W3CDTF">2019-11-26T01:57:20Z</dcterms:modified>
</cp:coreProperties>
</file>